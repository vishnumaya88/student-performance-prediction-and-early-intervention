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AN Twinkle" charset="1" panose="00000000000000000000"/>
      <p:regular r:id="rId17"/>
    </p:embeddedFont>
    <p:embeddedFont>
      <p:font typeface="Copperplate Gothic 29 BC Bold" charset="1" panose="020E0604020206020404"/>
      <p:regular r:id="rId18"/>
    </p:embeddedFont>
    <p:embeddedFont>
      <p:font typeface="Inter" charset="1" panose="020B0502030000000004"/>
      <p:regular r:id="rId22"/>
    </p:embeddedFont>
    <p:embeddedFont>
      <p:font typeface="Times New Roman MT" charset="1" panose="02030502070405020303"/>
      <p:regular r:id="rId23"/>
    </p:embeddedFont>
    <p:embeddedFont>
      <p:font typeface="Times New Roman MT Bold" charset="1" panose="020308020704050203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fonts/font26.fntdata" Type="http://schemas.openxmlformats.org/officeDocument/2006/relationships/font"/><Relationship Id="rId27" Target="notesSlides/notesSlide4.xml" Type="http://schemas.openxmlformats.org/officeDocument/2006/relationships/notesSlide"/><Relationship Id="rId28" Target="notesSlides/notesSlide5.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goal is to predict student performance (Pass/Fail) </a:t>
            </a:r>
          </a:p>
          <a:p>
            <a:r>
              <a:rPr lang="en-US"/>
              <a:t>using academic and behavioral factors such as study time, </a:t>
            </a:r>
          </a:p>
          <a:p>
            <a:r>
              <a:rPr lang="en-US"/>
              <a:t>absences, and past failures.</a:t>
            </a:r>
          </a:p>
          <a:p>
            <a:r>
              <a:rPr lang="en-US"/>
              <a:t/>
            </a:r>
          </a:p>
          <a:p>
            <a:r>
              <a:rPr lang="en-US"/>
              <a:t>The system helps identify at-risk students early </a:t>
            </a:r>
          </a:p>
          <a:p>
            <a:r>
              <a:rPr lang="en-US"/>
              <a:t>and enables timely intervention.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 main objectives are to predict student performance, identify at-risk students early, compare different models, and build a simple application for real-time prediction.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dataset used is the UCI Student Performance dataset. It includes academic and demographic details. We focused on key features like study time, failures, absences, and age. The target is whether a student passes or fails based on the final grade.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Removed G1, G2, G3”</a:t>
            </a:r>
          </a:p>
          <a:p>
            <a:r>
              <a:rPr lang="en-US"/>
              <a:t>        These are previous grades and directly influence the final grade, so including them would cause data leakage.</a:t>
            </a:r>
          </a:p>
          <a:p>
            <a:r>
              <a:rPr lang="en-US"/>
              <a:t/>
            </a:r>
          </a:p>
          <a:p>
            <a:r>
              <a:rPr lang="en-US"/>
              <a:t>In preprocessing, we created the target variable, removed G1, G2, G3 to avoid data leakage, encoded categorical variables, and split the dataset into training and testing sets.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EDA, we analyzed how different factors affect performance. Students with higher study time perform better, while absences and past failures negatively impact results.</a:t>
            </a:r>
          </a:p>
          <a:p>
            <a:r>
              <a:rPr lang="en-US"/>
              <a:t/>
            </a:r>
          </a:p>
          <a:p>
            <a:r>
              <a:rPr lang="en-US"/>
              <a:t/>
            </a:r>
          </a:p>
          <a:p>
            <a:r>
              <a:rPr lang="en-US"/>
              <a:t/>
            </a:r>
          </a:p>
          <a:p>
            <a:r>
              <a:rPr lang="en-US"/>
              <a:t/>
            </a:r>
          </a:p>
          <a:p>
            <a:r>
              <a:rPr lang="en-US"/>
              <a:t>This graph shows that students who study more tend to pass more, while students with lower study time have a higher chance of failing.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9239250"/>
            <a:ext cx="162306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1028700" y="8459058"/>
            <a:ext cx="16230600" cy="0"/>
          </a:xfrm>
          <a:prstGeom prst="line">
            <a:avLst/>
          </a:prstGeom>
          <a:ln cap="flat" w="19050">
            <a:solidFill>
              <a:srgbClr val="000000"/>
            </a:solidFill>
            <a:prstDash val="solid"/>
            <a:headEnd type="none" len="sm" w="sm"/>
            <a:tailEnd type="none" len="sm" w="sm"/>
          </a:ln>
        </p:spPr>
      </p:sp>
      <p:sp>
        <p:nvSpPr>
          <p:cNvPr name="AutoShape 4" id="4"/>
          <p:cNvSpPr/>
          <p:nvPr/>
        </p:nvSpPr>
        <p:spPr>
          <a:xfrm rot="0">
            <a:off x="1028700" y="1028700"/>
            <a:ext cx="16230600" cy="0"/>
          </a:xfrm>
          <a:prstGeom prst="line">
            <a:avLst/>
          </a:prstGeom>
          <a:ln cap="flat" w="19050">
            <a:solidFill>
              <a:srgbClr val="000000"/>
            </a:solidFill>
            <a:prstDash val="solid"/>
            <a:headEnd type="none" len="sm" w="sm"/>
            <a:tailEnd type="none" len="sm" w="sm"/>
          </a:ln>
        </p:spPr>
      </p:sp>
      <p:grpSp>
        <p:nvGrpSpPr>
          <p:cNvPr name="Group 5" id="5"/>
          <p:cNvGrpSpPr/>
          <p:nvPr/>
        </p:nvGrpSpPr>
        <p:grpSpPr>
          <a:xfrm rot="0">
            <a:off x="1028700" y="205740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sp>
        <p:nvSpPr>
          <p:cNvPr name="TextBox 8" id="8"/>
          <p:cNvSpPr txBox="true"/>
          <p:nvPr/>
        </p:nvSpPr>
        <p:spPr>
          <a:xfrm rot="0">
            <a:off x="2571750" y="3328782"/>
            <a:ext cx="12726062" cy="2879725"/>
          </a:xfrm>
          <a:prstGeom prst="rect">
            <a:avLst/>
          </a:prstGeom>
        </p:spPr>
        <p:txBody>
          <a:bodyPr anchor="t" rtlCol="false" tIns="0" lIns="0" bIns="0" rIns="0">
            <a:spAutoFit/>
          </a:bodyPr>
          <a:lstStyle/>
          <a:p>
            <a:pPr algn="l">
              <a:lnSpc>
                <a:spcPts val="7699"/>
              </a:lnSpc>
            </a:pPr>
            <a:r>
              <a:rPr lang="en-US" sz="5499">
                <a:solidFill>
                  <a:srgbClr val="000000"/>
                </a:solidFill>
                <a:latin typeface="TAN Twinkle"/>
                <a:ea typeface="TAN Twinkle"/>
                <a:cs typeface="TAN Twinkle"/>
                <a:sym typeface="TAN Twinkle"/>
              </a:rPr>
              <a:t>Student Performance Prediction and Early Intervention</a:t>
            </a:r>
          </a:p>
        </p:txBody>
      </p:sp>
      <p:sp>
        <p:nvSpPr>
          <p:cNvPr name="TextBox 9" id="9"/>
          <p:cNvSpPr txBox="true"/>
          <p:nvPr/>
        </p:nvSpPr>
        <p:spPr>
          <a:xfrm rot="0">
            <a:off x="12681994" y="7186024"/>
            <a:ext cx="3447211" cy="739774"/>
          </a:xfrm>
          <a:prstGeom prst="rect">
            <a:avLst/>
          </a:prstGeom>
        </p:spPr>
        <p:txBody>
          <a:bodyPr anchor="t" rtlCol="false" tIns="0" lIns="0" bIns="0" rIns="0">
            <a:spAutoFit/>
          </a:bodyPr>
          <a:lstStyle/>
          <a:p>
            <a:pPr algn="just">
              <a:lnSpc>
                <a:spcPts val="2800"/>
              </a:lnSpc>
            </a:pPr>
            <a:r>
              <a:rPr lang="en-US" sz="2000">
                <a:solidFill>
                  <a:srgbClr val="000000"/>
                </a:solidFill>
                <a:latin typeface="Copperplate Gothic 29 BC Bold"/>
                <a:ea typeface="Copperplate Gothic 29 BC Bold"/>
                <a:cs typeface="Copperplate Gothic 29 BC Bold"/>
                <a:sym typeface="Copperplate Gothic 29 BC Bold"/>
              </a:rPr>
              <a:t>Akshaya KP  BIO AI</a:t>
            </a:r>
          </a:p>
          <a:p>
            <a:pPr algn="just">
              <a:lnSpc>
                <a:spcPts val="2800"/>
              </a:lnSpc>
            </a:pPr>
            <a:r>
              <a:rPr lang="en-US" sz="2000">
                <a:solidFill>
                  <a:srgbClr val="000000"/>
                </a:solidFill>
                <a:latin typeface="Copperplate Gothic 29 BC Bold"/>
                <a:ea typeface="Copperplate Gothic 29 BC Bold"/>
                <a:cs typeface="Copperplate Gothic 29 BC Bold"/>
                <a:sym typeface="Copperplate Gothic 29 BC Bold"/>
              </a:rPr>
              <a:t>Vishnumaya PK  CSDA</a:t>
            </a:r>
          </a:p>
        </p:txBody>
      </p:sp>
      <p:sp>
        <p:nvSpPr>
          <p:cNvPr name="TextBox 10" id="10"/>
          <p:cNvSpPr txBox="true"/>
          <p:nvPr/>
        </p:nvSpPr>
        <p:spPr>
          <a:xfrm rot="0">
            <a:off x="11850601" y="6910435"/>
            <a:ext cx="3447211" cy="361314"/>
          </a:xfrm>
          <a:prstGeom prst="rect">
            <a:avLst/>
          </a:prstGeom>
        </p:spPr>
        <p:txBody>
          <a:bodyPr anchor="t" rtlCol="false" tIns="0" lIns="0" bIns="0" rIns="0">
            <a:spAutoFit/>
          </a:bodyPr>
          <a:lstStyle/>
          <a:p>
            <a:pPr algn="just">
              <a:lnSpc>
                <a:spcPts val="2660"/>
              </a:lnSpc>
            </a:pPr>
            <a:r>
              <a:rPr lang="en-US" sz="1900">
                <a:solidFill>
                  <a:srgbClr val="000000"/>
                </a:solidFill>
                <a:latin typeface="Copperplate Gothic 29 BC Bold"/>
                <a:ea typeface="Copperplate Gothic 29 BC Bold"/>
                <a:cs typeface="Copperplate Gothic 29 BC Bold"/>
                <a:sym typeface="Copperplate Gothic 29 BC Bold"/>
              </a:rPr>
              <a:t>Presented By:</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9239250"/>
            <a:ext cx="162306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1028700" y="1028700"/>
            <a:ext cx="16230600" cy="0"/>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0">
            <a:off x="1028700" y="1444588"/>
            <a:ext cx="3086100" cy="30861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14299551" y="8660242"/>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02</a:t>
            </a:r>
          </a:p>
        </p:txBody>
      </p:sp>
      <p:sp>
        <p:nvSpPr>
          <p:cNvPr name="TextBox 8" id="8"/>
          <p:cNvSpPr txBox="true"/>
          <p:nvPr/>
        </p:nvSpPr>
        <p:spPr>
          <a:xfrm rot="0">
            <a:off x="2571750" y="2503450"/>
            <a:ext cx="9735000" cy="863600"/>
          </a:xfrm>
          <a:prstGeom prst="rect">
            <a:avLst/>
          </a:prstGeom>
        </p:spPr>
        <p:txBody>
          <a:bodyPr anchor="t" rtlCol="false" tIns="0" lIns="0" bIns="0" rIns="0">
            <a:spAutoFit/>
          </a:bodyPr>
          <a:lstStyle/>
          <a:p>
            <a:pPr algn="l">
              <a:lnSpc>
                <a:spcPts val="7000"/>
              </a:lnSpc>
            </a:pPr>
            <a:r>
              <a:rPr lang="en-US" sz="5000">
                <a:solidFill>
                  <a:srgbClr val="000000"/>
                </a:solidFill>
                <a:latin typeface="TAN Twinkle"/>
                <a:ea typeface="TAN Twinkle"/>
                <a:cs typeface="TAN Twinkle"/>
                <a:sym typeface="TAN Twinkle"/>
              </a:rPr>
              <a:t>Problem Statement</a:t>
            </a:r>
          </a:p>
        </p:txBody>
      </p:sp>
      <p:sp>
        <p:nvSpPr>
          <p:cNvPr name="TextBox 9" id="9"/>
          <p:cNvSpPr txBox="true"/>
          <p:nvPr/>
        </p:nvSpPr>
        <p:spPr>
          <a:xfrm rot="0">
            <a:off x="2571750" y="4397338"/>
            <a:ext cx="12470262" cy="3759201"/>
          </a:xfrm>
          <a:prstGeom prst="rect">
            <a:avLst/>
          </a:prstGeom>
        </p:spPr>
        <p:txBody>
          <a:bodyPr anchor="t" rtlCol="false" tIns="0" lIns="0" bIns="0" rIns="0">
            <a:spAutoFit/>
          </a:bodyPr>
          <a:lstStyle/>
          <a:p>
            <a:pPr algn="just" marL="755642" indent="-377821" lvl="1">
              <a:lnSpc>
                <a:spcPts val="4899"/>
              </a:lnSpc>
              <a:buFont typeface="Arial"/>
              <a:buChar char="•"/>
            </a:pPr>
            <a:r>
              <a:rPr lang="en-US" sz="3499">
                <a:solidFill>
                  <a:srgbClr val="000000"/>
                </a:solidFill>
                <a:latin typeface="Times New Roman MT"/>
                <a:ea typeface="Times New Roman MT"/>
                <a:cs typeface="Times New Roman MT"/>
                <a:sym typeface="Times New Roman MT"/>
              </a:rPr>
              <a:t>Pre</a:t>
            </a:r>
            <a:r>
              <a:rPr lang="en-US" sz="3499">
                <a:solidFill>
                  <a:srgbClr val="000000"/>
                </a:solidFill>
                <a:latin typeface="Times New Roman MT"/>
                <a:ea typeface="Times New Roman MT"/>
                <a:cs typeface="Times New Roman MT"/>
                <a:sym typeface="Times New Roman MT"/>
              </a:rPr>
              <a:t>dict whether a student will pass or fail</a:t>
            </a:r>
          </a:p>
          <a:p>
            <a:pPr algn="just" marL="755642" indent="-377821" lvl="1">
              <a:lnSpc>
                <a:spcPts val="4899"/>
              </a:lnSpc>
              <a:buFont typeface="Arial"/>
              <a:buChar char="•"/>
            </a:pPr>
            <a:r>
              <a:rPr lang="en-US" sz="3499">
                <a:solidFill>
                  <a:srgbClr val="000000"/>
                </a:solidFill>
                <a:latin typeface="Times New Roman MT"/>
                <a:ea typeface="Times New Roman MT"/>
                <a:cs typeface="Times New Roman MT"/>
                <a:sym typeface="Times New Roman MT"/>
              </a:rPr>
              <a:t>Based on academic factors (study time, failures)</a:t>
            </a:r>
          </a:p>
          <a:p>
            <a:pPr algn="just" marL="755642" indent="-377821" lvl="1">
              <a:lnSpc>
                <a:spcPts val="4899"/>
              </a:lnSpc>
              <a:buFont typeface="Arial"/>
              <a:buChar char="•"/>
            </a:pPr>
            <a:r>
              <a:rPr lang="en-US" sz="3499">
                <a:solidFill>
                  <a:srgbClr val="000000"/>
                </a:solidFill>
                <a:latin typeface="Times New Roman MT"/>
                <a:ea typeface="Times New Roman MT"/>
                <a:cs typeface="Times New Roman MT"/>
                <a:sym typeface="Times New Roman MT"/>
              </a:rPr>
              <a:t>Based on behavioral factors (attendance, consistency)</a:t>
            </a:r>
          </a:p>
          <a:p>
            <a:pPr algn="just" marL="755642" indent="-377821" lvl="1">
              <a:lnSpc>
                <a:spcPts val="4899"/>
              </a:lnSpc>
              <a:buFont typeface="Arial"/>
              <a:buChar char="•"/>
            </a:pPr>
            <a:r>
              <a:rPr lang="en-US" sz="3499">
                <a:solidFill>
                  <a:srgbClr val="000000"/>
                </a:solidFill>
                <a:latin typeface="Times New Roman MT"/>
                <a:ea typeface="Times New Roman MT"/>
                <a:cs typeface="Times New Roman MT"/>
                <a:sym typeface="Times New Roman MT"/>
              </a:rPr>
              <a:t>Identify students at risk early</a:t>
            </a:r>
          </a:p>
          <a:p>
            <a:pPr algn="just" marL="755642" indent="-377821" lvl="1">
              <a:lnSpc>
                <a:spcPts val="4899"/>
              </a:lnSpc>
              <a:buFont typeface="Arial"/>
              <a:buChar char="•"/>
            </a:pPr>
            <a:r>
              <a:rPr lang="en-US" sz="3499">
                <a:solidFill>
                  <a:srgbClr val="000000"/>
                </a:solidFill>
                <a:latin typeface="Times New Roman MT"/>
                <a:ea typeface="Times New Roman MT"/>
                <a:cs typeface="Times New Roman MT"/>
                <a:sym typeface="Times New Roman MT"/>
              </a:rPr>
              <a:t>Support timely academic intervention</a:t>
            </a:r>
          </a:p>
          <a:p>
            <a:pPr algn="just">
              <a:lnSpc>
                <a:spcPts val="4899"/>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9239250"/>
            <a:ext cx="162306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1028700" y="1028700"/>
            <a:ext cx="16230600" cy="0"/>
          </a:xfrm>
          <a:prstGeom prst="line">
            <a:avLst/>
          </a:prstGeom>
          <a:ln cap="flat" w="19050">
            <a:solidFill>
              <a:srgbClr val="000000"/>
            </a:solidFill>
            <a:prstDash val="solid"/>
            <a:headEnd type="none" len="sm" w="sm"/>
            <a:tailEnd type="none" len="sm" w="sm"/>
          </a:ln>
        </p:spPr>
      </p:sp>
      <p:sp>
        <p:nvSpPr>
          <p:cNvPr name="TextBox 4" id="4"/>
          <p:cNvSpPr txBox="true"/>
          <p:nvPr/>
        </p:nvSpPr>
        <p:spPr>
          <a:xfrm rot="0">
            <a:off x="14299551" y="8660242"/>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03</a:t>
            </a:r>
          </a:p>
        </p:txBody>
      </p:sp>
      <p:grpSp>
        <p:nvGrpSpPr>
          <p:cNvPr name="Group 5" id="5"/>
          <p:cNvGrpSpPr/>
          <p:nvPr/>
        </p:nvGrpSpPr>
        <p:grpSpPr>
          <a:xfrm rot="0">
            <a:off x="1028700" y="1444588"/>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sp>
        <p:nvSpPr>
          <p:cNvPr name="TextBox 8" id="8"/>
          <p:cNvSpPr txBox="true"/>
          <p:nvPr/>
        </p:nvSpPr>
        <p:spPr>
          <a:xfrm rot="0">
            <a:off x="2910120" y="2514581"/>
            <a:ext cx="8003235" cy="854076"/>
          </a:xfrm>
          <a:prstGeom prst="rect">
            <a:avLst/>
          </a:prstGeom>
        </p:spPr>
        <p:txBody>
          <a:bodyPr anchor="t" rtlCol="false" tIns="0" lIns="0" bIns="0" rIns="0">
            <a:spAutoFit/>
          </a:bodyPr>
          <a:lstStyle/>
          <a:p>
            <a:pPr algn="l">
              <a:lnSpc>
                <a:spcPts val="6999"/>
              </a:lnSpc>
            </a:pPr>
            <a:r>
              <a:rPr lang="en-US" sz="4999">
                <a:solidFill>
                  <a:srgbClr val="000000"/>
                </a:solidFill>
                <a:latin typeface="TAN Twinkle"/>
                <a:ea typeface="TAN Twinkle"/>
                <a:cs typeface="TAN Twinkle"/>
                <a:sym typeface="TAN Twinkle"/>
              </a:rPr>
              <a:t>Objectives</a:t>
            </a:r>
          </a:p>
        </p:txBody>
      </p:sp>
      <p:sp>
        <p:nvSpPr>
          <p:cNvPr name="TextBox 9" id="9"/>
          <p:cNvSpPr txBox="true"/>
          <p:nvPr/>
        </p:nvSpPr>
        <p:spPr>
          <a:xfrm rot="0">
            <a:off x="2057400" y="4469438"/>
            <a:ext cx="14302342" cy="3759201"/>
          </a:xfrm>
          <a:prstGeom prst="rect">
            <a:avLst/>
          </a:prstGeom>
        </p:spPr>
        <p:txBody>
          <a:bodyPr anchor="t" rtlCol="false" tIns="0" lIns="0" bIns="0" rIns="0">
            <a:spAutoFit/>
          </a:bodyPr>
          <a:lstStyle/>
          <a:p>
            <a:pPr algn="l" marL="755644" indent="-377822" lvl="1">
              <a:lnSpc>
                <a:spcPts val="4899"/>
              </a:lnSpc>
              <a:buFont typeface="Arial"/>
              <a:buChar char="•"/>
            </a:pPr>
            <a:r>
              <a:rPr lang="en-US" sz="3499">
                <a:solidFill>
                  <a:srgbClr val="000000"/>
                </a:solidFill>
                <a:latin typeface="Times New Roman MT"/>
                <a:ea typeface="Times New Roman MT"/>
                <a:cs typeface="Times New Roman MT"/>
                <a:sym typeface="Times New Roman MT"/>
              </a:rPr>
              <a:t>Predict student performance (Pass/Fail)</a:t>
            </a:r>
          </a:p>
          <a:p>
            <a:pPr algn="l" marL="755644" indent="-377822" lvl="1">
              <a:lnSpc>
                <a:spcPts val="4899"/>
              </a:lnSpc>
              <a:buFont typeface="Arial"/>
              <a:buChar char="•"/>
            </a:pPr>
            <a:r>
              <a:rPr lang="en-US" sz="3499">
                <a:solidFill>
                  <a:srgbClr val="000000"/>
                </a:solidFill>
                <a:latin typeface="Times New Roman MT"/>
                <a:ea typeface="Times New Roman MT"/>
                <a:cs typeface="Times New Roman MT"/>
                <a:sym typeface="Times New Roman MT"/>
              </a:rPr>
              <a:t>Identify at-risk students early</a:t>
            </a:r>
          </a:p>
          <a:p>
            <a:pPr algn="l" marL="755644" indent="-377822" lvl="1">
              <a:lnSpc>
                <a:spcPts val="4899"/>
              </a:lnSpc>
              <a:buFont typeface="Arial"/>
              <a:buChar char="•"/>
            </a:pPr>
            <a:r>
              <a:rPr lang="en-US" sz="3499">
                <a:solidFill>
                  <a:srgbClr val="000000"/>
                </a:solidFill>
                <a:latin typeface="Times New Roman MT"/>
                <a:ea typeface="Times New Roman MT"/>
                <a:cs typeface="Times New Roman MT"/>
                <a:sym typeface="Times New Roman MT"/>
              </a:rPr>
              <a:t>Compare multiple machine learning models</a:t>
            </a:r>
          </a:p>
          <a:p>
            <a:pPr algn="l" marL="755644" indent="-377822" lvl="1">
              <a:lnSpc>
                <a:spcPts val="4899"/>
              </a:lnSpc>
              <a:buFont typeface="Arial"/>
              <a:buChar char="•"/>
            </a:pPr>
            <a:r>
              <a:rPr lang="en-US" sz="3499">
                <a:solidFill>
                  <a:srgbClr val="000000"/>
                </a:solidFill>
                <a:latin typeface="Times New Roman MT"/>
                <a:ea typeface="Times New Roman MT"/>
                <a:cs typeface="Times New Roman MT"/>
                <a:sym typeface="Times New Roman MT"/>
              </a:rPr>
              <a:t>Select the best performing model</a:t>
            </a:r>
          </a:p>
          <a:p>
            <a:pPr algn="l" marL="755644" indent="-377822" lvl="1">
              <a:lnSpc>
                <a:spcPts val="4899"/>
              </a:lnSpc>
              <a:buFont typeface="Arial"/>
              <a:buChar char="•"/>
            </a:pPr>
            <a:r>
              <a:rPr lang="en-US" sz="3499">
                <a:solidFill>
                  <a:srgbClr val="000000"/>
                </a:solidFill>
                <a:latin typeface="Times New Roman MT"/>
                <a:ea typeface="Times New Roman MT"/>
                <a:cs typeface="Times New Roman MT"/>
                <a:sym typeface="Times New Roman MT"/>
              </a:rPr>
              <a:t>Develop a simple web application for prediction</a:t>
            </a:r>
          </a:p>
          <a:p>
            <a:pPr algn="l">
              <a:lnSpc>
                <a:spcPts val="4899"/>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9239250"/>
            <a:ext cx="162306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1028700" y="1028700"/>
            <a:ext cx="16230600" cy="0"/>
          </a:xfrm>
          <a:prstGeom prst="line">
            <a:avLst/>
          </a:prstGeom>
          <a:ln cap="flat" w="19050">
            <a:solidFill>
              <a:srgbClr val="000000"/>
            </a:solidFill>
            <a:prstDash val="solid"/>
            <a:headEnd type="none" len="sm" w="sm"/>
            <a:tailEnd type="none" len="sm" w="sm"/>
          </a:ln>
        </p:spPr>
      </p:sp>
      <p:sp>
        <p:nvSpPr>
          <p:cNvPr name="TextBox 4" id="4"/>
          <p:cNvSpPr txBox="true"/>
          <p:nvPr/>
        </p:nvSpPr>
        <p:spPr>
          <a:xfrm rot="0">
            <a:off x="1707765" y="1526553"/>
            <a:ext cx="9167169" cy="863600"/>
          </a:xfrm>
          <a:prstGeom prst="rect">
            <a:avLst/>
          </a:prstGeom>
        </p:spPr>
        <p:txBody>
          <a:bodyPr anchor="t" rtlCol="false" tIns="0" lIns="0" bIns="0" rIns="0">
            <a:spAutoFit/>
          </a:bodyPr>
          <a:lstStyle/>
          <a:p>
            <a:pPr algn="l">
              <a:lnSpc>
                <a:spcPts val="7000"/>
              </a:lnSpc>
            </a:pPr>
            <a:r>
              <a:rPr lang="en-US" sz="5000">
                <a:solidFill>
                  <a:srgbClr val="000000"/>
                </a:solidFill>
                <a:latin typeface="TAN Twinkle"/>
                <a:ea typeface="TAN Twinkle"/>
                <a:cs typeface="TAN Twinkle"/>
                <a:sym typeface="TAN Twinkle"/>
              </a:rPr>
              <a:t>Dataset</a:t>
            </a:r>
          </a:p>
        </p:txBody>
      </p:sp>
      <p:sp>
        <p:nvSpPr>
          <p:cNvPr name="TextBox 5" id="5"/>
          <p:cNvSpPr txBox="true"/>
          <p:nvPr/>
        </p:nvSpPr>
        <p:spPr>
          <a:xfrm rot="0">
            <a:off x="2075744" y="3067057"/>
            <a:ext cx="12690448" cy="1282700"/>
          </a:xfrm>
          <a:prstGeom prst="rect">
            <a:avLst/>
          </a:prstGeom>
        </p:spPr>
        <p:txBody>
          <a:bodyPr anchor="t" rtlCol="false" tIns="0" lIns="0" bIns="0" rIns="0">
            <a:spAutoFit/>
          </a:bodyPr>
          <a:lstStyle/>
          <a:p>
            <a:pPr algn="l" marL="755649"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UCI Stu</a:t>
            </a:r>
            <a:r>
              <a:rPr lang="en-US" sz="3499">
                <a:solidFill>
                  <a:srgbClr val="000000"/>
                </a:solidFill>
                <a:latin typeface="Times New Roman MT"/>
                <a:ea typeface="Times New Roman MT"/>
                <a:cs typeface="Times New Roman MT"/>
                <a:sym typeface="Times New Roman MT"/>
              </a:rPr>
              <a:t>dent Performance Dataset</a:t>
            </a:r>
          </a:p>
          <a:p>
            <a:pPr algn="l" marL="755649"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Contains student academic and demographic data</a:t>
            </a:r>
          </a:p>
        </p:txBody>
      </p:sp>
      <p:sp>
        <p:nvSpPr>
          <p:cNvPr name="TextBox 6" id="6"/>
          <p:cNvSpPr txBox="true"/>
          <p:nvPr/>
        </p:nvSpPr>
        <p:spPr>
          <a:xfrm rot="0">
            <a:off x="2558831" y="4797432"/>
            <a:ext cx="6282147" cy="3140075"/>
          </a:xfrm>
          <a:prstGeom prst="rect">
            <a:avLst/>
          </a:prstGeom>
        </p:spPr>
        <p:txBody>
          <a:bodyPr anchor="t" rtlCol="false" tIns="0" lIns="0" bIns="0" rIns="0">
            <a:spAutoFit/>
          </a:bodyPr>
          <a:lstStyle/>
          <a:p>
            <a:pPr algn="just">
              <a:lnSpc>
                <a:spcPts val="4899"/>
              </a:lnSpc>
            </a:pPr>
            <a:r>
              <a:rPr lang="en-US" sz="3499" b="true">
                <a:solidFill>
                  <a:srgbClr val="000000"/>
                </a:solidFill>
                <a:latin typeface="Times New Roman MT Bold"/>
                <a:ea typeface="Times New Roman MT Bold"/>
                <a:cs typeface="Times New Roman MT Bold"/>
                <a:sym typeface="Times New Roman MT Bold"/>
              </a:rPr>
              <a:t>Key Features:</a:t>
            </a:r>
          </a:p>
          <a:p>
            <a:pPr algn="just" marL="755647"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Stu</a:t>
            </a:r>
            <a:r>
              <a:rPr lang="en-US" sz="3499">
                <a:solidFill>
                  <a:srgbClr val="000000"/>
                </a:solidFill>
                <a:latin typeface="Times New Roman MT"/>
                <a:ea typeface="Times New Roman MT"/>
                <a:cs typeface="Times New Roman MT"/>
                <a:sym typeface="Times New Roman MT"/>
              </a:rPr>
              <a:t>dy time</a:t>
            </a:r>
          </a:p>
          <a:p>
            <a:pPr algn="just" marL="755647"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Failures</a:t>
            </a:r>
          </a:p>
          <a:p>
            <a:pPr algn="just" marL="755647"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Absences</a:t>
            </a:r>
          </a:p>
          <a:p>
            <a:pPr algn="just" marL="755647"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Age</a:t>
            </a:r>
          </a:p>
        </p:txBody>
      </p:sp>
      <p:sp>
        <p:nvSpPr>
          <p:cNvPr name="TextBox 7" id="7"/>
          <p:cNvSpPr txBox="true"/>
          <p:nvPr/>
        </p:nvSpPr>
        <p:spPr>
          <a:xfrm rot="0">
            <a:off x="9511115" y="4797432"/>
            <a:ext cx="4788436" cy="2520950"/>
          </a:xfrm>
          <a:prstGeom prst="rect">
            <a:avLst/>
          </a:prstGeom>
        </p:spPr>
        <p:txBody>
          <a:bodyPr anchor="t" rtlCol="false" tIns="0" lIns="0" bIns="0" rIns="0">
            <a:spAutoFit/>
          </a:bodyPr>
          <a:lstStyle/>
          <a:p>
            <a:pPr algn="just">
              <a:lnSpc>
                <a:spcPts val="4899"/>
              </a:lnSpc>
            </a:pPr>
            <a:r>
              <a:rPr lang="en-US" sz="3499" b="true">
                <a:solidFill>
                  <a:srgbClr val="000000"/>
                </a:solidFill>
                <a:latin typeface="Times New Roman MT Bold"/>
                <a:ea typeface="Times New Roman MT Bold"/>
                <a:cs typeface="Times New Roman MT Bold"/>
                <a:sym typeface="Times New Roman MT Bold"/>
              </a:rPr>
              <a:t>T</a:t>
            </a:r>
            <a:r>
              <a:rPr lang="en-US" b="true" sz="3499">
                <a:solidFill>
                  <a:srgbClr val="000000"/>
                </a:solidFill>
                <a:latin typeface="Times New Roman MT Bold"/>
                <a:ea typeface="Times New Roman MT Bold"/>
                <a:cs typeface="Times New Roman MT Bold"/>
                <a:sym typeface="Times New Roman MT Bold"/>
              </a:rPr>
              <a:t>arget Variable:</a:t>
            </a:r>
          </a:p>
          <a:p>
            <a:pPr algn="just" marL="755649"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Pass → G3 ≥ 10</a:t>
            </a:r>
          </a:p>
          <a:p>
            <a:pPr algn="just" marL="755649"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Fail → G3 &lt; 10</a:t>
            </a:r>
          </a:p>
          <a:p>
            <a:pPr algn="just">
              <a:lnSpc>
                <a:spcPts val="4899"/>
              </a:lnSpc>
            </a:pPr>
          </a:p>
        </p:txBody>
      </p:sp>
      <p:sp>
        <p:nvSpPr>
          <p:cNvPr name="TextBox 8" id="8"/>
          <p:cNvSpPr txBox="true"/>
          <p:nvPr/>
        </p:nvSpPr>
        <p:spPr>
          <a:xfrm rot="0">
            <a:off x="14299551" y="8660242"/>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04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6339274" y="5346657"/>
            <a:ext cx="2344695" cy="349250"/>
          </a:xfrm>
          <a:prstGeom prst="rect">
            <a:avLst/>
          </a:prstGeom>
        </p:spPr>
        <p:txBody>
          <a:bodyPr anchor="t" rtlCol="false" tIns="0" lIns="0" bIns="0" rIns="0">
            <a:spAutoFit/>
          </a:bodyPr>
          <a:lstStyle/>
          <a:p>
            <a:pPr algn="ctr">
              <a:lnSpc>
                <a:spcPts val="2800"/>
              </a:lnSpc>
              <a:spcBef>
                <a:spcPct val="0"/>
              </a:spcBef>
            </a:pPr>
            <a:r>
              <a:rPr lang="en-US" sz="2000" spc="600">
                <a:solidFill>
                  <a:srgbClr val="FFFFFF"/>
                </a:solidFill>
                <a:latin typeface="Inter"/>
                <a:ea typeface="Inter"/>
                <a:cs typeface="Inter"/>
                <a:sym typeface="Inter"/>
              </a:rPr>
              <a:t>#C6A28D</a:t>
            </a:r>
          </a:p>
        </p:txBody>
      </p:sp>
      <p:sp>
        <p:nvSpPr>
          <p:cNvPr name="TextBox 3" id="3"/>
          <p:cNvSpPr txBox="true"/>
          <p:nvPr/>
        </p:nvSpPr>
        <p:spPr>
          <a:xfrm rot="0">
            <a:off x="9607893" y="5346657"/>
            <a:ext cx="2344695" cy="349250"/>
          </a:xfrm>
          <a:prstGeom prst="rect">
            <a:avLst/>
          </a:prstGeom>
        </p:spPr>
        <p:txBody>
          <a:bodyPr anchor="t" rtlCol="false" tIns="0" lIns="0" bIns="0" rIns="0">
            <a:spAutoFit/>
          </a:bodyPr>
          <a:lstStyle/>
          <a:p>
            <a:pPr algn="ctr">
              <a:lnSpc>
                <a:spcPts val="2800"/>
              </a:lnSpc>
              <a:spcBef>
                <a:spcPct val="0"/>
              </a:spcBef>
            </a:pPr>
            <a:r>
              <a:rPr lang="en-US" sz="2000" spc="600">
                <a:solidFill>
                  <a:srgbClr val="FFFFFF"/>
                </a:solidFill>
                <a:latin typeface="Inter"/>
                <a:ea typeface="Inter"/>
                <a:cs typeface="Inter"/>
                <a:sym typeface="Inter"/>
              </a:rPr>
              <a:t>#868668</a:t>
            </a:r>
          </a:p>
        </p:txBody>
      </p:sp>
      <p:sp>
        <p:nvSpPr>
          <p:cNvPr name="TextBox 4" id="4"/>
          <p:cNvSpPr txBox="true"/>
          <p:nvPr/>
        </p:nvSpPr>
        <p:spPr>
          <a:xfrm rot="0">
            <a:off x="12876513" y="5346657"/>
            <a:ext cx="2344695" cy="349250"/>
          </a:xfrm>
          <a:prstGeom prst="rect">
            <a:avLst/>
          </a:prstGeom>
        </p:spPr>
        <p:txBody>
          <a:bodyPr anchor="t" rtlCol="false" tIns="0" lIns="0" bIns="0" rIns="0">
            <a:spAutoFit/>
          </a:bodyPr>
          <a:lstStyle/>
          <a:p>
            <a:pPr algn="ctr">
              <a:lnSpc>
                <a:spcPts val="2800"/>
              </a:lnSpc>
              <a:spcBef>
                <a:spcPct val="0"/>
              </a:spcBef>
            </a:pPr>
            <a:r>
              <a:rPr lang="en-US" sz="2000" spc="600">
                <a:solidFill>
                  <a:srgbClr val="FFFFFF"/>
                </a:solidFill>
                <a:latin typeface="Inter"/>
                <a:ea typeface="Inter"/>
                <a:cs typeface="Inter"/>
                <a:sym typeface="Inter"/>
              </a:rPr>
              <a:t>#AD6237</a:t>
            </a:r>
          </a:p>
        </p:txBody>
      </p:sp>
      <p:sp>
        <p:nvSpPr>
          <p:cNvPr name="TextBox 5" id="5"/>
          <p:cNvSpPr txBox="true"/>
          <p:nvPr/>
        </p:nvSpPr>
        <p:spPr>
          <a:xfrm rot="0">
            <a:off x="2165845" y="2186283"/>
            <a:ext cx="9454120" cy="854076"/>
          </a:xfrm>
          <a:prstGeom prst="rect">
            <a:avLst/>
          </a:prstGeom>
        </p:spPr>
        <p:txBody>
          <a:bodyPr anchor="t" rtlCol="false" tIns="0" lIns="0" bIns="0" rIns="0">
            <a:spAutoFit/>
          </a:bodyPr>
          <a:lstStyle/>
          <a:p>
            <a:pPr algn="l">
              <a:lnSpc>
                <a:spcPts val="6999"/>
              </a:lnSpc>
            </a:pPr>
            <a:r>
              <a:rPr lang="en-US" sz="4999">
                <a:solidFill>
                  <a:srgbClr val="000000"/>
                </a:solidFill>
                <a:latin typeface="TAN Twinkle"/>
                <a:ea typeface="TAN Twinkle"/>
                <a:cs typeface="TAN Twinkle"/>
                <a:sym typeface="TAN Twinkle"/>
              </a:rPr>
              <a:t>Data Preprocessing</a:t>
            </a:r>
          </a:p>
        </p:txBody>
      </p:sp>
      <p:sp>
        <p:nvSpPr>
          <p:cNvPr name="AutoShape 6" id="6"/>
          <p:cNvSpPr/>
          <p:nvPr/>
        </p:nvSpPr>
        <p:spPr>
          <a:xfrm rot="0">
            <a:off x="1028700" y="1028700"/>
            <a:ext cx="16230600" cy="0"/>
          </a:xfrm>
          <a:prstGeom prst="line">
            <a:avLst/>
          </a:prstGeom>
          <a:ln cap="flat" w="19050">
            <a:solidFill>
              <a:srgbClr val="000000"/>
            </a:solidFill>
            <a:prstDash val="solid"/>
            <a:headEnd type="none" len="sm" w="sm"/>
            <a:tailEnd type="none" len="sm" w="sm"/>
          </a:ln>
        </p:spPr>
      </p:sp>
      <p:sp>
        <p:nvSpPr>
          <p:cNvPr name="TextBox 7" id="7"/>
          <p:cNvSpPr txBox="true"/>
          <p:nvPr/>
        </p:nvSpPr>
        <p:spPr>
          <a:xfrm rot="0">
            <a:off x="14299551" y="8660242"/>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05</a:t>
            </a:r>
          </a:p>
        </p:txBody>
      </p:sp>
      <p:sp>
        <p:nvSpPr>
          <p:cNvPr name="TextBox 8" id="8"/>
          <p:cNvSpPr txBox="true"/>
          <p:nvPr/>
        </p:nvSpPr>
        <p:spPr>
          <a:xfrm rot="0">
            <a:off x="2165845" y="4140792"/>
            <a:ext cx="11232498" cy="2373630"/>
          </a:xfrm>
          <a:prstGeom prst="rect">
            <a:avLst/>
          </a:prstGeom>
        </p:spPr>
        <p:txBody>
          <a:bodyPr anchor="t" rtlCol="false" tIns="0" lIns="0" bIns="0" rIns="0">
            <a:spAutoFit/>
          </a:bodyPr>
          <a:lstStyle/>
          <a:p>
            <a:pPr algn="l" marL="712470" indent="-356235" lvl="1">
              <a:lnSpc>
                <a:spcPts val="4620"/>
              </a:lnSpc>
              <a:buFont typeface="Arial"/>
              <a:buChar char="•"/>
            </a:pPr>
            <a:r>
              <a:rPr lang="en-US" sz="3300">
                <a:solidFill>
                  <a:srgbClr val="000000"/>
                </a:solidFill>
                <a:latin typeface="Times New Roman MT"/>
                <a:ea typeface="Times New Roman MT"/>
                <a:cs typeface="Times New Roman MT"/>
                <a:sym typeface="Times New Roman MT"/>
              </a:rPr>
              <a:t>- Converted final grade into Pass/Fail</a:t>
            </a:r>
          </a:p>
          <a:p>
            <a:pPr algn="l" marL="712470" indent="-356235" lvl="1">
              <a:lnSpc>
                <a:spcPts val="4620"/>
              </a:lnSpc>
              <a:buFont typeface="Arial"/>
              <a:buChar char="•"/>
            </a:pPr>
            <a:r>
              <a:rPr lang="en-US" sz="3300">
                <a:solidFill>
                  <a:srgbClr val="000000"/>
                </a:solidFill>
                <a:latin typeface="Times New Roman MT"/>
                <a:ea typeface="Times New Roman MT"/>
                <a:cs typeface="Times New Roman MT"/>
                <a:sym typeface="Times New Roman MT"/>
              </a:rPr>
              <a:t>- Removed G1, G2, G3 to avoid data leakage</a:t>
            </a:r>
          </a:p>
          <a:p>
            <a:pPr algn="l" marL="712470" indent="-356235" lvl="1">
              <a:lnSpc>
                <a:spcPts val="4620"/>
              </a:lnSpc>
              <a:buFont typeface="Arial"/>
              <a:buChar char="•"/>
            </a:pPr>
            <a:r>
              <a:rPr lang="en-US" sz="3300">
                <a:solidFill>
                  <a:srgbClr val="000000"/>
                </a:solidFill>
                <a:latin typeface="Times New Roman MT"/>
                <a:ea typeface="Times New Roman MT"/>
                <a:cs typeface="Times New Roman MT"/>
                <a:sym typeface="Times New Roman MT"/>
              </a:rPr>
              <a:t>- Encoded categorical features</a:t>
            </a:r>
          </a:p>
          <a:p>
            <a:pPr algn="l" marL="712470" indent="-356235" lvl="1">
              <a:lnSpc>
                <a:spcPts val="4620"/>
              </a:lnSpc>
              <a:buFont typeface="Arial"/>
              <a:buChar char="•"/>
            </a:pPr>
            <a:r>
              <a:rPr lang="en-US" sz="3300">
                <a:solidFill>
                  <a:srgbClr val="000000"/>
                </a:solidFill>
                <a:latin typeface="Times New Roman MT"/>
                <a:ea typeface="Times New Roman MT"/>
                <a:cs typeface="Times New Roman MT"/>
                <a:sym typeface="Times New Roman MT"/>
              </a:rPr>
              <a:t>- Split data into training and testing sets</a:t>
            </a:r>
          </a:p>
        </p:txBody>
      </p:sp>
      <p:grpSp>
        <p:nvGrpSpPr>
          <p:cNvPr name="Group 9" id="9"/>
          <p:cNvGrpSpPr/>
          <p:nvPr/>
        </p:nvGrpSpPr>
        <p:grpSpPr>
          <a:xfrm rot="0">
            <a:off x="-514350" y="7752672"/>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alpha val="30980"/>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sp>
        <p:nvSpPr>
          <p:cNvPr name="AutoShape 12" id="12"/>
          <p:cNvSpPr/>
          <p:nvPr/>
        </p:nvSpPr>
        <p:spPr>
          <a:xfrm rot="0">
            <a:off x="1028700" y="9239250"/>
            <a:ext cx="16230600" cy="0"/>
          </a:xfrm>
          <a:prstGeom prst="line">
            <a:avLst/>
          </a:prstGeom>
          <a:ln cap="flat" w="19050">
            <a:solidFill>
              <a:srgbClr val="000000"/>
            </a:solidFill>
            <a:prstDash val="solid"/>
            <a:headEnd type="none" len="sm" w="sm"/>
            <a:tailEnd type="none" len="sm" w="sm"/>
          </a:ln>
        </p:spPr>
      </p:sp>
      <p:grpSp>
        <p:nvGrpSpPr>
          <p:cNvPr name="Group 13" id="13"/>
          <p:cNvGrpSpPr/>
          <p:nvPr/>
        </p:nvGrpSpPr>
        <p:grpSpPr>
          <a:xfrm rot="0">
            <a:off x="15716250" y="-514350"/>
            <a:ext cx="3086100" cy="30861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alpha val="30980"/>
              </a:srgbClr>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9239250"/>
            <a:ext cx="162306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1028700" y="1028700"/>
            <a:ext cx="16230600" cy="0"/>
          </a:xfrm>
          <a:prstGeom prst="line">
            <a:avLst/>
          </a:prstGeom>
          <a:ln cap="flat" w="19050">
            <a:solidFill>
              <a:srgbClr val="000000"/>
            </a:solidFill>
            <a:prstDash val="solid"/>
            <a:headEnd type="none" len="sm" w="sm"/>
            <a:tailEnd type="none" len="sm" w="sm"/>
          </a:ln>
        </p:spPr>
      </p:sp>
      <p:sp>
        <p:nvSpPr>
          <p:cNvPr name="Freeform 4" id="4"/>
          <p:cNvSpPr/>
          <p:nvPr/>
        </p:nvSpPr>
        <p:spPr>
          <a:xfrm flipH="false" flipV="false" rot="0">
            <a:off x="11217234" y="3151040"/>
            <a:ext cx="6164634" cy="4486484"/>
          </a:xfrm>
          <a:custGeom>
            <a:avLst/>
            <a:gdLst/>
            <a:ahLst/>
            <a:cxnLst/>
            <a:rect r="r" b="b" t="t" l="l"/>
            <a:pathLst>
              <a:path h="4486484" w="6164634">
                <a:moveTo>
                  <a:pt x="0" y="0"/>
                </a:moveTo>
                <a:lnTo>
                  <a:pt x="6164634" y="0"/>
                </a:lnTo>
                <a:lnTo>
                  <a:pt x="6164634" y="4486484"/>
                </a:lnTo>
                <a:lnTo>
                  <a:pt x="0" y="4486484"/>
                </a:lnTo>
                <a:lnTo>
                  <a:pt x="0" y="0"/>
                </a:lnTo>
                <a:close/>
              </a:path>
            </a:pathLst>
          </a:custGeom>
          <a:blipFill>
            <a:blip r:embed="rId3"/>
            <a:stretch>
              <a:fillRect l="0" t="0" r="0" b="0"/>
            </a:stretch>
          </a:blipFill>
        </p:spPr>
      </p:sp>
      <p:sp>
        <p:nvSpPr>
          <p:cNvPr name="TextBox 5" id="5"/>
          <p:cNvSpPr txBox="true"/>
          <p:nvPr/>
        </p:nvSpPr>
        <p:spPr>
          <a:xfrm rot="0">
            <a:off x="6339274" y="5346657"/>
            <a:ext cx="2344695" cy="349250"/>
          </a:xfrm>
          <a:prstGeom prst="rect">
            <a:avLst/>
          </a:prstGeom>
        </p:spPr>
        <p:txBody>
          <a:bodyPr anchor="t" rtlCol="false" tIns="0" lIns="0" bIns="0" rIns="0">
            <a:spAutoFit/>
          </a:bodyPr>
          <a:lstStyle/>
          <a:p>
            <a:pPr algn="ctr">
              <a:lnSpc>
                <a:spcPts val="2800"/>
              </a:lnSpc>
              <a:spcBef>
                <a:spcPct val="0"/>
              </a:spcBef>
            </a:pPr>
            <a:r>
              <a:rPr lang="en-US" sz="2000" spc="600">
                <a:solidFill>
                  <a:srgbClr val="FFFFFF"/>
                </a:solidFill>
                <a:latin typeface="Inter"/>
                <a:ea typeface="Inter"/>
                <a:cs typeface="Inter"/>
                <a:sym typeface="Inter"/>
              </a:rPr>
              <a:t>#C6A28D</a:t>
            </a:r>
          </a:p>
        </p:txBody>
      </p:sp>
      <p:sp>
        <p:nvSpPr>
          <p:cNvPr name="TextBox 6" id="6"/>
          <p:cNvSpPr txBox="true"/>
          <p:nvPr/>
        </p:nvSpPr>
        <p:spPr>
          <a:xfrm rot="0">
            <a:off x="9607893" y="5346657"/>
            <a:ext cx="2344695" cy="349250"/>
          </a:xfrm>
          <a:prstGeom prst="rect">
            <a:avLst/>
          </a:prstGeom>
        </p:spPr>
        <p:txBody>
          <a:bodyPr anchor="t" rtlCol="false" tIns="0" lIns="0" bIns="0" rIns="0">
            <a:spAutoFit/>
          </a:bodyPr>
          <a:lstStyle/>
          <a:p>
            <a:pPr algn="ctr">
              <a:lnSpc>
                <a:spcPts val="2800"/>
              </a:lnSpc>
              <a:spcBef>
                <a:spcPct val="0"/>
              </a:spcBef>
            </a:pPr>
            <a:r>
              <a:rPr lang="en-US" sz="2000" spc="600">
                <a:solidFill>
                  <a:srgbClr val="FFFFFF"/>
                </a:solidFill>
                <a:latin typeface="Inter"/>
                <a:ea typeface="Inter"/>
                <a:cs typeface="Inter"/>
                <a:sym typeface="Inter"/>
              </a:rPr>
              <a:t>#868668</a:t>
            </a:r>
          </a:p>
        </p:txBody>
      </p:sp>
      <p:sp>
        <p:nvSpPr>
          <p:cNvPr name="TextBox 7" id="7"/>
          <p:cNvSpPr txBox="true"/>
          <p:nvPr/>
        </p:nvSpPr>
        <p:spPr>
          <a:xfrm rot="0">
            <a:off x="1326120" y="2005517"/>
            <a:ext cx="12142800" cy="854076"/>
          </a:xfrm>
          <a:prstGeom prst="rect">
            <a:avLst/>
          </a:prstGeom>
        </p:spPr>
        <p:txBody>
          <a:bodyPr anchor="t" rtlCol="false" tIns="0" lIns="0" bIns="0" rIns="0">
            <a:spAutoFit/>
          </a:bodyPr>
          <a:lstStyle/>
          <a:p>
            <a:pPr algn="l">
              <a:lnSpc>
                <a:spcPts val="6999"/>
              </a:lnSpc>
            </a:pPr>
            <a:r>
              <a:rPr lang="en-US" sz="4999">
                <a:solidFill>
                  <a:srgbClr val="000000"/>
                </a:solidFill>
                <a:latin typeface="TAN Twinkle"/>
                <a:ea typeface="TAN Twinkle"/>
                <a:cs typeface="TAN Twinkle"/>
                <a:sym typeface="TAN Twinkle"/>
              </a:rPr>
              <a:t>Exploratory Data Analysis</a:t>
            </a:r>
          </a:p>
        </p:txBody>
      </p:sp>
      <p:sp>
        <p:nvSpPr>
          <p:cNvPr name="TextBox 8" id="8"/>
          <p:cNvSpPr txBox="true"/>
          <p:nvPr/>
        </p:nvSpPr>
        <p:spPr>
          <a:xfrm rot="0">
            <a:off x="14299551" y="8660242"/>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06</a:t>
            </a:r>
          </a:p>
        </p:txBody>
      </p:sp>
      <p:sp>
        <p:nvSpPr>
          <p:cNvPr name="TextBox 9" id="9"/>
          <p:cNvSpPr txBox="true"/>
          <p:nvPr/>
        </p:nvSpPr>
        <p:spPr>
          <a:xfrm rot="0">
            <a:off x="1326120" y="3560183"/>
            <a:ext cx="9155378" cy="2852420"/>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000000"/>
                </a:solidFill>
                <a:latin typeface="Times New Roman MT"/>
                <a:ea typeface="Times New Roman MT"/>
                <a:cs typeface="Times New Roman MT"/>
                <a:sym typeface="Times New Roman MT"/>
              </a:rPr>
              <a:t>Analyzed relationships between features  and student performance</a:t>
            </a:r>
          </a:p>
          <a:p>
            <a:pPr algn="just" marL="690881" indent="-345440" lvl="1">
              <a:lnSpc>
                <a:spcPts val="4480"/>
              </a:lnSpc>
              <a:buFont typeface="Arial"/>
              <a:buChar char="•"/>
            </a:pPr>
            <a:r>
              <a:rPr lang="en-US" sz="3200">
                <a:solidFill>
                  <a:srgbClr val="000000"/>
                </a:solidFill>
                <a:latin typeface="Times New Roman MT"/>
                <a:ea typeface="Times New Roman MT"/>
                <a:cs typeface="Times New Roman MT"/>
                <a:sym typeface="Times New Roman MT"/>
              </a:rPr>
              <a:t>Higher study time improves performance</a:t>
            </a:r>
          </a:p>
          <a:p>
            <a:pPr algn="just" marL="690881" indent="-345440" lvl="1">
              <a:lnSpc>
                <a:spcPts val="4480"/>
              </a:lnSpc>
              <a:buFont typeface="Arial"/>
              <a:buChar char="•"/>
            </a:pPr>
            <a:r>
              <a:rPr lang="en-US" sz="3200">
                <a:solidFill>
                  <a:srgbClr val="000000"/>
                </a:solidFill>
                <a:latin typeface="Times New Roman MT"/>
                <a:ea typeface="Times New Roman MT"/>
                <a:cs typeface="Times New Roman MT"/>
                <a:sym typeface="Times New Roman MT"/>
              </a:rPr>
              <a:t>More absences reduce performance</a:t>
            </a:r>
          </a:p>
          <a:p>
            <a:pPr algn="just" marL="690881" indent="-345440" lvl="1">
              <a:lnSpc>
                <a:spcPts val="4480"/>
              </a:lnSpc>
              <a:buFont typeface="Arial"/>
              <a:buChar char="•"/>
            </a:pPr>
            <a:r>
              <a:rPr lang="en-US" sz="3200">
                <a:solidFill>
                  <a:srgbClr val="000000"/>
                </a:solidFill>
                <a:latin typeface="Times New Roman MT"/>
                <a:ea typeface="Times New Roman MT"/>
                <a:cs typeface="Times New Roman MT"/>
                <a:sym typeface="Times New Roman MT"/>
              </a:rPr>
              <a:t>Past failures negatively impact results</a:t>
            </a:r>
          </a:p>
        </p:txBody>
      </p:sp>
      <p:grpSp>
        <p:nvGrpSpPr>
          <p:cNvPr name="Group 10" id="10"/>
          <p:cNvGrpSpPr/>
          <p:nvPr/>
        </p:nvGrpSpPr>
        <p:grpSpPr>
          <a:xfrm rot="0">
            <a:off x="-514350" y="7752672"/>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alpha val="30980"/>
              </a:srgbClr>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9239250"/>
            <a:ext cx="16230600" cy="0"/>
          </a:xfrm>
          <a:prstGeom prst="line">
            <a:avLst/>
          </a:prstGeom>
          <a:ln cap="flat" w="19050">
            <a:solidFill>
              <a:srgbClr val="000000"/>
            </a:solidFill>
            <a:prstDash val="solid"/>
            <a:headEnd type="none" len="sm" w="sm"/>
            <a:tailEnd type="none" len="sm" w="sm"/>
          </a:ln>
        </p:spPr>
      </p:sp>
      <p:sp>
        <p:nvSpPr>
          <p:cNvPr name="TextBox 3" id="3"/>
          <p:cNvSpPr txBox="true"/>
          <p:nvPr/>
        </p:nvSpPr>
        <p:spPr>
          <a:xfrm rot="0">
            <a:off x="14299551" y="8660242"/>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07</a:t>
            </a:r>
          </a:p>
        </p:txBody>
      </p:sp>
      <p:sp>
        <p:nvSpPr>
          <p:cNvPr name="TextBox 4" id="4"/>
          <p:cNvSpPr txBox="true"/>
          <p:nvPr/>
        </p:nvSpPr>
        <p:spPr>
          <a:xfrm rot="0">
            <a:off x="2567591" y="5019675"/>
            <a:ext cx="7186662" cy="2759710"/>
          </a:xfrm>
          <a:prstGeom prst="rect">
            <a:avLst/>
          </a:prstGeom>
        </p:spPr>
        <p:txBody>
          <a:bodyPr anchor="t" rtlCol="false" tIns="0" lIns="0" bIns="0" rIns="0">
            <a:spAutoFit/>
          </a:bodyPr>
          <a:lstStyle/>
          <a:p>
            <a:pPr algn="l" marL="669291" indent="-334646" lvl="1">
              <a:lnSpc>
                <a:spcPts val="4340"/>
              </a:lnSpc>
              <a:buFont typeface="Arial"/>
              <a:buChar char="•"/>
            </a:pPr>
            <a:r>
              <a:rPr lang="en-US" sz="3100">
                <a:solidFill>
                  <a:srgbClr val="000000"/>
                </a:solidFill>
                <a:latin typeface="Times New Roman MT"/>
                <a:ea typeface="Times New Roman MT"/>
                <a:cs typeface="Times New Roman MT"/>
                <a:sym typeface="Times New Roman MT"/>
              </a:rPr>
              <a:t>Logistic</a:t>
            </a:r>
            <a:r>
              <a:rPr lang="en-US" sz="3100">
                <a:solidFill>
                  <a:srgbClr val="000000"/>
                </a:solidFill>
                <a:latin typeface="Times New Roman MT"/>
                <a:ea typeface="Times New Roman MT"/>
                <a:cs typeface="Times New Roman MT"/>
                <a:sym typeface="Times New Roman MT"/>
              </a:rPr>
              <a:t> Regression </a:t>
            </a:r>
          </a:p>
          <a:p>
            <a:pPr algn="l">
              <a:lnSpc>
                <a:spcPts val="4340"/>
              </a:lnSpc>
            </a:pPr>
          </a:p>
          <a:p>
            <a:pPr algn="l" marL="669291" indent="-334646" lvl="1">
              <a:lnSpc>
                <a:spcPts val="4340"/>
              </a:lnSpc>
              <a:buFont typeface="Arial"/>
              <a:buChar char="•"/>
            </a:pPr>
            <a:r>
              <a:rPr lang="en-US" sz="3100">
                <a:solidFill>
                  <a:srgbClr val="000000"/>
                </a:solidFill>
                <a:latin typeface="Times New Roman MT"/>
                <a:ea typeface="Times New Roman MT"/>
                <a:cs typeface="Times New Roman MT"/>
                <a:sym typeface="Times New Roman MT"/>
              </a:rPr>
              <a:t>Decision Tree </a:t>
            </a:r>
          </a:p>
          <a:p>
            <a:pPr algn="l">
              <a:lnSpc>
                <a:spcPts val="4340"/>
              </a:lnSpc>
            </a:pPr>
          </a:p>
          <a:p>
            <a:pPr algn="l" marL="669291" indent="-334646" lvl="1">
              <a:lnSpc>
                <a:spcPts val="4340"/>
              </a:lnSpc>
              <a:buFont typeface="Arial"/>
              <a:buChar char="•"/>
            </a:pPr>
            <a:r>
              <a:rPr lang="en-US" sz="3100">
                <a:solidFill>
                  <a:srgbClr val="000000"/>
                </a:solidFill>
                <a:latin typeface="Times New Roman MT"/>
                <a:ea typeface="Times New Roman MT"/>
                <a:cs typeface="Times New Roman MT"/>
                <a:sym typeface="Times New Roman MT"/>
              </a:rPr>
              <a:t>Gradient Boosting </a:t>
            </a:r>
          </a:p>
        </p:txBody>
      </p:sp>
      <p:sp>
        <p:nvSpPr>
          <p:cNvPr name="TextBox 5" id="5"/>
          <p:cNvSpPr txBox="true"/>
          <p:nvPr/>
        </p:nvSpPr>
        <p:spPr>
          <a:xfrm rot="0">
            <a:off x="2567591" y="4152797"/>
            <a:ext cx="12736558" cy="604520"/>
          </a:xfrm>
          <a:prstGeom prst="rect">
            <a:avLst/>
          </a:prstGeom>
        </p:spPr>
        <p:txBody>
          <a:bodyPr anchor="t" rtlCol="false" tIns="0" lIns="0" bIns="0" rIns="0">
            <a:spAutoFit/>
          </a:bodyPr>
          <a:lstStyle/>
          <a:p>
            <a:pPr algn="l">
              <a:lnSpc>
                <a:spcPts val="4480"/>
              </a:lnSpc>
            </a:pPr>
            <a:r>
              <a:rPr lang="en-US" sz="3200">
                <a:solidFill>
                  <a:srgbClr val="000000"/>
                </a:solidFill>
                <a:latin typeface="Times New Roman MT"/>
                <a:ea typeface="Times New Roman MT"/>
                <a:cs typeface="Times New Roman MT"/>
                <a:sym typeface="Times New Roman MT"/>
              </a:rPr>
              <a:t>Models</a:t>
            </a:r>
            <a:r>
              <a:rPr lang="en-US" sz="3200">
                <a:solidFill>
                  <a:srgbClr val="000000"/>
                </a:solidFill>
                <a:latin typeface="Times New Roman MT"/>
                <a:ea typeface="Times New Roman MT"/>
                <a:cs typeface="Times New Roman MT"/>
                <a:sym typeface="Times New Roman MT"/>
              </a:rPr>
              <a:t> were used to compare performance and select the best one.</a:t>
            </a:r>
          </a:p>
        </p:txBody>
      </p:sp>
      <p:grpSp>
        <p:nvGrpSpPr>
          <p:cNvPr name="Group 6" id="6"/>
          <p:cNvGrpSpPr/>
          <p:nvPr/>
        </p:nvGrpSpPr>
        <p:grpSpPr>
          <a:xfrm rot="0">
            <a:off x="345445" y="1028700"/>
            <a:ext cx="3232715" cy="32327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alpha val="60784"/>
              </a:srgbClr>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sp>
        <p:nvSpPr>
          <p:cNvPr name="TextBox 9" id="9"/>
          <p:cNvSpPr txBox="true"/>
          <p:nvPr/>
        </p:nvSpPr>
        <p:spPr>
          <a:xfrm rot="0">
            <a:off x="1961803" y="2160870"/>
            <a:ext cx="9506980" cy="863600"/>
          </a:xfrm>
          <a:prstGeom prst="rect">
            <a:avLst/>
          </a:prstGeom>
        </p:spPr>
        <p:txBody>
          <a:bodyPr anchor="t" rtlCol="false" tIns="0" lIns="0" bIns="0" rIns="0">
            <a:spAutoFit/>
          </a:bodyPr>
          <a:lstStyle/>
          <a:p>
            <a:pPr algn="l">
              <a:lnSpc>
                <a:spcPts val="7000"/>
              </a:lnSpc>
            </a:pPr>
            <a:r>
              <a:rPr lang="en-US" sz="5000">
                <a:solidFill>
                  <a:srgbClr val="000000"/>
                </a:solidFill>
                <a:latin typeface="TAN Twinkle"/>
                <a:ea typeface="TAN Twinkle"/>
                <a:cs typeface="TAN Twinkle"/>
                <a:sym typeface="TAN Twinkle"/>
              </a:rPr>
              <a:t>Models</a:t>
            </a:r>
          </a:p>
        </p:txBody>
      </p:sp>
      <p:sp>
        <p:nvSpPr>
          <p:cNvPr name="AutoShape 10" id="10"/>
          <p:cNvSpPr/>
          <p:nvPr/>
        </p:nvSpPr>
        <p:spPr>
          <a:xfrm>
            <a:off x="1028700" y="1141375"/>
            <a:ext cx="16230600" cy="0"/>
          </a:xfrm>
          <a:prstGeom prst="line">
            <a:avLst/>
          </a:prstGeom>
          <a:ln cap="flat" w="19050">
            <a:solidFill>
              <a:srgbClr val="000000"/>
            </a:solidFill>
            <a:prstDash val="solid"/>
            <a:headEnd type="none" len="sm" w="sm"/>
            <a:tailEnd type="none" len="sm" w="sm"/>
          </a:ln>
        </p:spPr>
      </p:sp>
      <p:sp>
        <p:nvSpPr>
          <p:cNvPr name="Freeform 11" id="11"/>
          <p:cNvSpPr/>
          <p:nvPr/>
        </p:nvSpPr>
        <p:spPr>
          <a:xfrm flipH="false" flipV="false" rot="0">
            <a:off x="1961803" y="4389193"/>
            <a:ext cx="272922" cy="255554"/>
          </a:xfrm>
          <a:custGeom>
            <a:avLst/>
            <a:gdLst/>
            <a:ahLst/>
            <a:cxnLst/>
            <a:rect r="r" b="b" t="t" l="l"/>
            <a:pathLst>
              <a:path h="255554" w="272922">
                <a:moveTo>
                  <a:pt x="0" y="0"/>
                </a:moveTo>
                <a:lnTo>
                  <a:pt x="272922" y="0"/>
                </a:lnTo>
                <a:lnTo>
                  <a:pt x="272922" y="255554"/>
                </a:lnTo>
                <a:lnTo>
                  <a:pt x="0" y="2555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9239250"/>
            <a:ext cx="162306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1028700" y="1028700"/>
            <a:ext cx="16230600" cy="0"/>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0">
            <a:off x="1028700" y="1261921"/>
            <a:ext cx="3086100" cy="30861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graphicFrame>
        <p:nvGraphicFramePr>
          <p:cNvPr name="Object 7" id="7"/>
          <p:cNvGraphicFramePr/>
          <p:nvPr/>
        </p:nvGraphicFramePr>
        <p:xfrm>
          <a:off x="4114800" y="3603308"/>
          <a:ext cx="3771900" cy="2514600"/>
        </p:xfrm>
        <a:graphic>
          <a:graphicData uri="http://schemas.openxmlformats.org/presentationml/2006/ole">
            <p:oleObj imgW="4521200" imgH="3263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8" id="8"/>
          <p:cNvSpPr txBox="true"/>
          <p:nvPr/>
        </p:nvSpPr>
        <p:spPr>
          <a:xfrm rot="0">
            <a:off x="14299551" y="8660242"/>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08</a:t>
            </a:r>
          </a:p>
        </p:txBody>
      </p:sp>
      <p:sp>
        <p:nvSpPr>
          <p:cNvPr name="TextBox 9" id="9"/>
          <p:cNvSpPr txBox="true"/>
          <p:nvPr/>
        </p:nvSpPr>
        <p:spPr>
          <a:xfrm rot="0">
            <a:off x="2571750" y="2320784"/>
            <a:ext cx="9506980" cy="863600"/>
          </a:xfrm>
          <a:prstGeom prst="rect">
            <a:avLst/>
          </a:prstGeom>
        </p:spPr>
        <p:txBody>
          <a:bodyPr anchor="t" rtlCol="false" tIns="0" lIns="0" bIns="0" rIns="0">
            <a:spAutoFit/>
          </a:bodyPr>
          <a:lstStyle/>
          <a:p>
            <a:pPr algn="l">
              <a:lnSpc>
                <a:spcPts val="7000"/>
              </a:lnSpc>
            </a:pPr>
            <a:r>
              <a:rPr lang="en-US" sz="5000">
                <a:solidFill>
                  <a:srgbClr val="000000"/>
                </a:solidFill>
                <a:latin typeface="TAN Twinkle"/>
                <a:ea typeface="TAN Twinkle"/>
                <a:cs typeface="TAN Twinkle"/>
                <a:sym typeface="TAN Twinkle"/>
              </a:rPr>
              <a:t>Model Results</a:t>
            </a:r>
          </a:p>
        </p:txBody>
      </p:sp>
      <p:sp>
        <p:nvSpPr>
          <p:cNvPr name="TextBox 10" id="10"/>
          <p:cNvSpPr txBox="true"/>
          <p:nvPr/>
        </p:nvSpPr>
        <p:spPr>
          <a:xfrm rot="0">
            <a:off x="2571750" y="8346234"/>
            <a:ext cx="10559951" cy="512445"/>
          </a:xfrm>
          <a:prstGeom prst="rect">
            <a:avLst/>
          </a:prstGeom>
        </p:spPr>
        <p:txBody>
          <a:bodyPr anchor="t" rtlCol="false" tIns="0" lIns="0" bIns="0" rIns="0">
            <a:spAutoFit/>
          </a:bodyPr>
          <a:lstStyle/>
          <a:p>
            <a:pPr algn="l" marL="582932" indent="-291466" lvl="1">
              <a:lnSpc>
                <a:spcPts val="3780"/>
              </a:lnSpc>
              <a:buFont typeface="Arial"/>
              <a:buChar char="•"/>
            </a:pPr>
            <a:r>
              <a:rPr lang="en-US" sz="2700">
                <a:solidFill>
                  <a:srgbClr val="000000"/>
                </a:solidFill>
                <a:latin typeface="Times New Roman MT"/>
                <a:ea typeface="Times New Roman MT"/>
                <a:cs typeface="Times New Roman MT"/>
                <a:sym typeface="Times New Roman MT"/>
              </a:rPr>
              <a:t>Logistic Regression performed best and was selected for deployment.</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9239250"/>
            <a:ext cx="162306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1028700" y="1028700"/>
            <a:ext cx="16230600" cy="0"/>
          </a:xfrm>
          <a:prstGeom prst="line">
            <a:avLst/>
          </a:prstGeom>
          <a:ln cap="flat" w="19050">
            <a:solidFill>
              <a:srgbClr val="000000"/>
            </a:solidFill>
            <a:prstDash val="solid"/>
            <a:headEnd type="none" len="sm" w="sm"/>
            <a:tailEnd type="none" len="sm" w="sm"/>
          </a:ln>
        </p:spPr>
      </p:sp>
      <p:sp>
        <p:nvSpPr>
          <p:cNvPr name="TextBox 4" id="4"/>
          <p:cNvSpPr txBox="true"/>
          <p:nvPr/>
        </p:nvSpPr>
        <p:spPr>
          <a:xfrm rot="0">
            <a:off x="14299551" y="8660242"/>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09</a:t>
            </a:r>
          </a:p>
        </p:txBody>
      </p:sp>
      <p:sp>
        <p:nvSpPr>
          <p:cNvPr name="TextBox 5" id="5"/>
          <p:cNvSpPr txBox="true"/>
          <p:nvPr/>
        </p:nvSpPr>
        <p:spPr>
          <a:xfrm rot="0">
            <a:off x="1651858" y="1704975"/>
            <a:ext cx="9506980" cy="863600"/>
          </a:xfrm>
          <a:prstGeom prst="rect">
            <a:avLst/>
          </a:prstGeom>
        </p:spPr>
        <p:txBody>
          <a:bodyPr anchor="t" rtlCol="false" tIns="0" lIns="0" bIns="0" rIns="0">
            <a:spAutoFit/>
          </a:bodyPr>
          <a:lstStyle/>
          <a:p>
            <a:pPr algn="l">
              <a:lnSpc>
                <a:spcPts val="7000"/>
              </a:lnSpc>
            </a:pPr>
            <a:r>
              <a:rPr lang="en-US" sz="5000">
                <a:solidFill>
                  <a:srgbClr val="000000"/>
                </a:solidFill>
                <a:latin typeface="TAN Twinkle"/>
                <a:ea typeface="TAN Twinkle"/>
                <a:cs typeface="TAN Twinkle"/>
                <a:sym typeface="TAN Twinkle"/>
              </a:rPr>
              <a:t>Web Application</a:t>
            </a:r>
          </a:p>
        </p:txBody>
      </p:sp>
      <p:sp>
        <p:nvSpPr>
          <p:cNvPr name="TextBox 6" id="6"/>
          <p:cNvSpPr txBox="true"/>
          <p:nvPr/>
        </p:nvSpPr>
        <p:spPr>
          <a:xfrm rot="0">
            <a:off x="1651858" y="3197225"/>
            <a:ext cx="14127567" cy="3759200"/>
          </a:xfrm>
          <a:prstGeom prst="rect">
            <a:avLst/>
          </a:prstGeom>
        </p:spPr>
        <p:txBody>
          <a:bodyPr anchor="t" rtlCol="false" tIns="0" lIns="0" bIns="0" rIns="0">
            <a:spAutoFit/>
          </a:bodyPr>
          <a:lstStyle/>
          <a:p>
            <a:pPr algn="l">
              <a:lnSpc>
                <a:spcPts val="4899"/>
              </a:lnSpc>
            </a:pPr>
            <a:r>
              <a:rPr lang="en-US" sz="3499">
                <a:solidFill>
                  <a:srgbClr val="000000"/>
                </a:solidFill>
                <a:latin typeface="Times New Roman MT"/>
                <a:ea typeface="Times New Roman MT"/>
                <a:cs typeface="Times New Roman MT"/>
                <a:sym typeface="Times New Roman MT"/>
              </a:rPr>
              <a:t>A web interface was developed for real-time prediction.</a:t>
            </a:r>
          </a:p>
          <a:p>
            <a:pPr algn="l">
              <a:lnSpc>
                <a:spcPts val="4899"/>
              </a:lnSpc>
            </a:pPr>
          </a:p>
          <a:p>
            <a:pPr algn="l" marL="755649"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Built using Streamlit</a:t>
            </a:r>
          </a:p>
          <a:p>
            <a:pPr algn="l" marL="755649"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Accepts student inputs</a:t>
            </a:r>
          </a:p>
          <a:p>
            <a:pPr algn="l" marL="755649"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Predicts Pass/Fail</a:t>
            </a:r>
          </a:p>
          <a:p>
            <a:pPr algn="l" marL="755649" indent="-377824" lvl="1">
              <a:lnSpc>
                <a:spcPts val="4899"/>
              </a:lnSpc>
              <a:buFont typeface="Arial"/>
              <a:buChar char="•"/>
            </a:pPr>
            <a:r>
              <a:rPr lang="en-US" sz="3499">
                <a:solidFill>
                  <a:srgbClr val="000000"/>
                </a:solidFill>
                <a:latin typeface="Times New Roman MT"/>
                <a:ea typeface="Times New Roman MT"/>
                <a:cs typeface="Times New Roman MT"/>
                <a:sym typeface="Times New Roman MT"/>
              </a:rPr>
              <a:t>Simple and user-friendly</a:t>
            </a:r>
          </a:p>
        </p:txBody>
      </p:sp>
      <p:grpSp>
        <p:nvGrpSpPr>
          <p:cNvPr name="Group 7" id="7"/>
          <p:cNvGrpSpPr/>
          <p:nvPr/>
        </p:nvGrpSpPr>
        <p:grpSpPr>
          <a:xfrm rot="0">
            <a:off x="14954250" y="-517525"/>
            <a:ext cx="3848100" cy="3848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alpha val="30980"/>
              </a:srgbClr>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1028700"/>
            <a:ext cx="16230600"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1028700" y="2791684"/>
            <a:ext cx="7038677" cy="5808373"/>
          </a:xfrm>
          <a:custGeom>
            <a:avLst/>
            <a:gdLst/>
            <a:ahLst/>
            <a:cxnLst/>
            <a:rect r="r" b="b" t="t" l="l"/>
            <a:pathLst>
              <a:path h="5808373" w="7038677">
                <a:moveTo>
                  <a:pt x="0" y="0"/>
                </a:moveTo>
                <a:lnTo>
                  <a:pt x="7038677" y="0"/>
                </a:lnTo>
                <a:lnTo>
                  <a:pt x="7038677" y="5808373"/>
                </a:lnTo>
                <a:lnTo>
                  <a:pt x="0" y="5808373"/>
                </a:lnTo>
                <a:lnTo>
                  <a:pt x="0" y="0"/>
                </a:lnTo>
                <a:close/>
              </a:path>
            </a:pathLst>
          </a:custGeom>
          <a:blipFill>
            <a:blip r:embed="rId2"/>
            <a:stretch>
              <a:fillRect l="-20819" t="0" r="-29644" b="0"/>
            </a:stretch>
          </a:blipFill>
        </p:spPr>
      </p:sp>
      <p:sp>
        <p:nvSpPr>
          <p:cNvPr name="Freeform 4" id="4"/>
          <p:cNvSpPr/>
          <p:nvPr/>
        </p:nvSpPr>
        <p:spPr>
          <a:xfrm flipH="false" flipV="false" rot="0">
            <a:off x="9607359" y="2791684"/>
            <a:ext cx="7061023" cy="5808373"/>
          </a:xfrm>
          <a:custGeom>
            <a:avLst/>
            <a:gdLst/>
            <a:ahLst/>
            <a:cxnLst/>
            <a:rect r="r" b="b" t="t" l="l"/>
            <a:pathLst>
              <a:path h="5808373" w="7061023">
                <a:moveTo>
                  <a:pt x="0" y="0"/>
                </a:moveTo>
                <a:lnTo>
                  <a:pt x="7061023" y="0"/>
                </a:lnTo>
                <a:lnTo>
                  <a:pt x="7061023" y="5808373"/>
                </a:lnTo>
                <a:lnTo>
                  <a:pt x="0" y="5808373"/>
                </a:lnTo>
                <a:lnTo>
                  <a:pt x="0" y="0"/>
                </a:lnTo>
                <a:close/>
              </a:path>
            </a:pathLst>
          </a:custGeom>
          <a:blipFill>
            <a:blip r:embed="rId3"/>
            <a:stretch>
              <a:fillRect l="-19877" t="0" r="-29539" b="0"/>
            </a:stretch>
          </a:blipFill>
        </p:spPr>
      </p:sp>
      <p:sp>
        <p:nvSpPr>
          <p:cNvPr name="TextBox 5" id="5"/>
          <p:cNvSpPr txBox="true"/>
          <p:nvPr/>
        </p:nvSpPr>
        <p:spPr>
          <a:xfrm rot="0">
            <a:off x="14299551" y="9210675"/>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10</a:t>
            </a:r>
          </a:p>
        </p:txBody>
      </p:sp>
      <p:sp>
        <p:nvSpPr>
          <p:cNvPr name="TextBox 6" id="6"/>
          <p:cNvSpPr txBox="true"/>
          <p:nvPr/>
        </p:nvSpPr>
        <p:spPr>
          <a:xfrm rot="0">
            <a:off x="1483217" y="1550259"/>
            <a:ext cx="9506980" cy="669925"/>
          </a:xfrm>
          <a:prstGeom prst="rect">
            <a:avLst/>
          </a:prstGeom>
        </p:spPr>
        <p:txBody>
          <a:bodyPr anchor="t" rtlCol="false" tIns="0" lIns="0" bIns="0" rIns="0">
            <a:spAutoFit/>
          </a:bodyPr>
          <a:lstStyle/>
          <a:p>
            <a:pPr algn="l">
              <a:lnSpc>
                <a:spcPts val="5599"/>
              </a:lnSpc>
            </a:pPr>
            <a:r>
              <a:rPr lang="en-US" sz="3999">
                <a:solidFill>
                  <a:srgbClr val="000000"/>
                </a:solidFill>
                <a:latin typeface="TAN Twinkle"/>
                <a:ea typeface="TAN Twinkle"/>
                <a:cs typeface="TAN Twinkle"/>
                <a:sym typeface="TAN Twinkle"/>
              </a:rPr>
              <a:t>Prediction Results</a:t>
            </a:r>
          </a:p>
        </p:txBody>
      </p:sp>
      <p:sp>
        <p:nvSpPr>
          <p:cNvPr name="TextBox 7" id="7"/>
          <p:cNvSpPr txBox="true"/>
          <p:nvPr/>
        </p:nvSpPr>
        <p:spPr>
          <a:xfrm rot="0">
            <a:off x="2818999" y="8670290"/>
            <a:ext cx="2556768" cy="588010"/>
          </a:xfrm>
          <a:prstGeom prst="rect">
            <a:avLst/>
          </a:prstGeom>
        </p:spPr>
        <p:txBody>
          <a:bodyPr anchor="t" rtlCol="false" tIns="0" lIns="0" bIns="0" rIns="0">
            <a:spAutoFit/>
          </a:bodyPr>
          <a:lstStyle/>
          <a:p>
            <a:pPr algn="ctr">
              <a:lnSpc>
                <a:spcPts val="4340"/>
              </a:lnSpc>
              <a:spcBef>
                <a:spcPct val="0"/>
              </a:spcBef>
            </a:pPr>
            <a:r>
              <a:rPr lang="en-US" sz="3100">
                <a:solidFill>
                  <a:srgbClr val="000000"/>
                </a:solidFill>
                <a:latin typeface="Times New Roman MT"/>
                <a:ea typeface="Times New Roman MT"/>
                <a:cs typeface="Times New Roman MT"/>
                <a:sym typeface="Times New Roman MT"/>
              </a:rPr>
              <a:t>Pass Prediction</a:t>
            </a:r>
          </a:p>
        </p:txBody>
      </p:sp>
      <p:sp>
        <p:nvSpPr>
          <p:cNvPr name="TextBox 8" id="8"/>
          <p:cNvSpPr txBox="true"/>
          <p:nvPr/>
        </p:nvSpPr>
        <p:spPr>
          <a:xfrm rot="0">
            <a:off x="12323720" y="8670290"/>
            <a:ext cx="2473226" cy="588010"/>
          </a:xfrm>
          <a:prstGeom prst="rect">
            <a:avLst/>
          </a:prstGeom>
        </p:spPr>
        <p:txBody>
          <a:bodyPr anchor="t" rtlCol="false" tIns="0" lIns="0" bIns="0" rIns="0">
            <a:spAutoFit/>
          </a:bodyPr>
          <a:lstStyle/>
          <a:p>
            <a:pPr algn="ctr">
              <a:lnSpc>
                <a:spcPts val="4340"/>
              </a:lnSpc>
              <a:spcBef>
                <a:spcPct val="0"/>
              </a:spcBef>
            </a:pPr>
            <a:r>
              <a:rPr lang="en-US" sz="3100">
                <a:solidFill>
                  <a:srgbClr val="000000"/>
                </a:solidFill>
                <a:latin typeface="Times New Roman MT"/>
                <a:ea typeface="Times New Roman MT"/>
                <a:cs typeface="Times New Roman MT"/>
                <a:sym typeface="Times New Roman MT"/>
              </a:rPr>
              <a:t>Fail Prediction</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AutoShape 2" id="2"/>
          <p:cNvSpPr/>
          <p:nvPr/>
        </p:nvSpPr>
        <p:spPr>
          <a:xfrm rot="0">
            <a:off x="1028700" y="9239250"/>
            <a:ext cx="16230600" cy="0"/>
          </a:xfrm>
          <a:prstGeom prst="line">
            <a:avLst/>
          </a:prstGeom>
          <a:ln cap="flat" w="19050">
            <a:solidFill>
              <a:srgbClr val="000000"/>
            </a:solidFill>
            <a:prstDash val="solid"/>
            <a:headEnd type="none" len="sm" w="sm"/>
            <a:tailEnd type="none" len="sm" w="sm"/>
          </a:ln>
        </p:spPr>
      </p:sp>
      <p:sp>
        <p:nvSpPr>
          <p:cNvPr name="AutoShape 3" id="3"/>
          <p:cNvSpPr/>
          <p:nvPr/>
        </p:nvSpPr>
        <p:spPr>
          <a:xfrm rot="0">
            <a:off x="1028700" y="1028700"/>
            <a:ext cx="16230600" cy="0"/>
          </a:xfrm>
          <a:prstGeom prst="line">
            <a:avLst/>
          </a:prstGeom>
          <a:ln cap="flat" w="19050">
            <a:solidFill>
              <a:srgbClr val="000000"/>
            </a:solidFill>
            <a:prstDash val="solid"/>
            <a:headEnd type="none" len="sm" w="sm"/>
            <a:tailEnd type="none" len="sm" w="sm"/>
          </a:ln>
        </p:spPr>
      </p:sp>
      <p:sp>
        <p:nvSpPr>
          <p:cNvPr name="TextBox 4" id="4"/>
          <p:cNvSpPr txBox="true"/>
          <p:nvPr/>
        </p:nvSpPr>
        <p:spPr>
          <a:xfrm rot="0">
            <a:off x="14299551" y="8660242"/>
            <a:ext cx="2959749" cy="349250"/>
          </a:xfrm>
          <a:prstGeom prst="rect">
            <a:avLst/>
          </a:prstGeom>
        </p:spPr>
        <p:txBody>
          <a:bodyPr anchor="t" rtlCol="false" tIns="0" lIns="0" bIns="0" rIns="0">
            <a:spAutoFit/>
          </a:bodyPr>
          <a:lstStyle/>
          <a:p>
            <a:pPr algn="r">
              <a:lnSpc>
                <a:spcPts val="2800"/>
              </a:lnSpc>
              <a:spcBef>
                <a:spcPct val="0"/>
              </a:spcBef>
            </a:pPr>
            <a:r>
              <a:rPr lang="en-US" sz="2000" spc="600">
                <a:solidFill>
                  <a:srgbClr val="000000"/>
                </a:solidFill>
                <a:latin typeface="Inter"/>
                <a:ea typeface="Inter"/>
                <a:cs typeface="Inter"/>
                <a:sym typeface="Inter"/>
              </a:rPr>
              <a:t>PAGE 11</a:t>
            </a:r>
          </a:p>
        </p:txBody>
      </p:sp>
      <p:sp>
        <p:nvSpPr>
          <p:cNvPr name="TextBox 5" id="5"/>
          <p:cNvSpPr txBox="true"/>
          <p:nvPr/>
        </p:nvSpPr>
        <p:spPr>
          <a:xfrm rot="0">
            <a:off x="1028700" y="8660242"/>
            <a:ext cx="3670263" cy="349250"/>
          </a:xfrm>
          <a:prstGeom prst="rect">
            <a:avLst/>
          </a:prstGeom>
        </p:spPr>
        <p:txBody>
          <a:bodyPr anchor="t" rtlCol="false" tIns="0" lIns="0" bIns="0" rIns="0">
            <a:spAutoFit/>
          </a:bodyPr>
          <a:lstStyle/>
          <a:p>
            <a:pPr algn="l">
              <a:lnSpc>
                <a:spcPts val="2800"/>
              </a:lnSpc>
              <a:spcBef>
                <a:spcPct val="0"/>
              </a:spcBef>
            </a:pPr>
            <a:r>
              <a:rPr lang="en-US" sz="2000" spc="600">
                <a:solidFill>
                  <a:srgbClr val="000000"/>
                </a:solidFill>
                <a:latin typeface="Inter"/>
                <a:ea typeface="Inter"/>
                <a:cs typeface="Inter"/>
                <a:sym typeface="Inter"/>
              </a:rPr>
              <a:t>THANKS!</a:t>
            </a:r>
          </a:p>
        </p:txBody>
      </p:sp>
      <p:grpSp>
        <p:nvGrpSpPr>
          <p:cNvPr name="Group 6" id="6"/>
          <p:cNvGrpSpPr/>
          <p:nvPr/>
        </p:nvGrpSpPr>
        <p:grpSpPr>
          <a:xfrm rot="0">
            <a:off x="1028700" y="1444588"/>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EFED"/>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800"/>
                </a:lnSpc>
              </a:pPr>
            </a:p>
          </p:txBody>
        </p:sp>
      </p:grpSp>
      <p:sp>
        <p:nvSpPr>
          <p:cNvPr name="TextBox 9" id="9"/>
          <p:cNvSpPr txBox="true"/>
          <p:nvPr/>
        </p:nvSpPr>
        <p:spPr>
          <a:xfrm rot="0">
            <a:off x="2571750" y="2330309"/>
            <a:ext cx="9506980" cy="854076"/>
          </a:xfrm>
          <a:prstGeom prst="rect">
            <a:avLst/>
          </a:prstGeom>
        </p:spPr>
        <p:txBody>
          <a:bodyPr anchor="t" rtlCol="false" tIns="0" lIns="0" bIns="0" rIns="0">
            <a:spAutoFit/>
          </a:bodyPr>
          <a:lstStyle/>
          <a:p>
            <a:pPr algn="l">
              <a:lnSpc>
                <a:spcPts val="6999"/>
              </a:lnSpc>
            </a:pPr>
            <a:r>
              <a:rPr lang="en-US" sz="4999">
                <a:solidFill>
                  <a:srgbClr val="000000"/>
                </a:solidFill>
                <a:latin typeface="TAN Twinkle"/>
                <a:ea typeface="TAN Twinkle"/>
                <a:cs typeface="TAN Twinkle"/>
                <a:sym typeface="TAN Twinkle"/>
              </a:rPr>
              <a:t>Conclusion</a:t>
            </a:r>
          </a:p>
        </p:txBody>
      </p:sp>
      <p:sp>
        <p:nvSpPr>
          <p:cNvPr name="TextBox 10" id="10"/>
          <p:cNvSpPr txBox="true"/>
          <p:nvPr/>
        </p:nvSpPr>
        <p:spPr>
          <a:xfrm rot="0">
            <a:off x="2571750" y="4311613"/>
            <a:ext cx="12454070" cy="2919095"/>
          </a:xfrm>
          <a:prstGeom prst="rect">
            <a:avLst/>
          </a:prstGeom>
        </p:spPr>
        <p:txBody>
          <a:bodyPr anchor="t" rtlCol="false" tIns="0" lIns="0" bIns="0" rIns="0">
            <a:spAutoFit/>
          </a:bodyPr>
          <a:lstStyle/>
          <a:p>
            <a:pPr algn="l" marL="755649" indent="-377824" lvl="1">
              <a:lnSpc>
                <a:spcPts val="5739"/>
              </a:lnSpc>
              <a:buFont typeface="Arial"/>
              <a:buChar char="•"/>
            </a:pPr>
            <a:r>
              <a:rPr lang="en-US" sz="3499">
                <a:solidFill>
                  <a:srgbClr val="000000"/>
                </a:solidFill>
                <a:latin typeface="Times New Roman MT"/>
                <a:ea typeface="Times New Roman MT"/>
                <a:cs typeface="Times New Roman MT"/>
                <a:sym typeface="Times New Roman MT"/>
              </a:rPr>
              <a:t>Logistic Regression showed the highest accuracy</a:t>
            </a:r>
          </a:p>
          <a:p>
            <a:pPr algn="l" marL="755649" indent="-377824" lvl="1">
              <a:lnSpc>
                <a:spcPts val="5739"/>
              </a:lnSpc>
              <a:buFont typeface="Arial"/>
              <a:buChar char="•"/>
            </a:pPr>
            <a:r>
              <a:rPr lang="en-US" sz="3499">
                <a:solidFill>
                  <a:srgbClr val="000000"/>
                </a:solidFill>
                <a:latin typeface="Times New Roman MT"/>
                <a:ea typeface="Times New Roman MT"/>
                <a:cs typeface="Times New Roman MT"/>
                <a:sym typeface="Times New Roman MT"/>
              </a:rPr>
              <a:t>Study time and past failures strongly influence performance</a:t>
            </a:r>
          </a:p>
          <a:p>
            <a:pPr algn="l" marL="755649" indent="-377824" lvl="1">
              <a:lnSpc>
                <a:spcPts val="5739"/>
              </a:lnSpc>
              <a:buFont typeface="Arial"/>
              <a:buChar char="•"/>
            </a:pPr>
            <a:r>
              <a:rPr lang="en-US" sz="3499">
                <a:solidFill>
                  <a:srgbClr val="000000"/>
                </a:solidFill>
                <a:latin typeface="Times New Roman MT"/>
                <a:ea typeface="Times New Roman MT"/>
                <a:cs typeface="Times New Roman MT"/>
                <a:sym typeface="Times New Roman MT"/>
              </a:rPr>
              <a:t>The model helps identify at-risk students early</a:t>
            </a:r>
          </a:p>
          <a:p>
            <a:pPr algn="l" marL="755649" indent="-377824" lvl="1">
              <a:lnSpc>
                <a:spcPts val="5739"/>
              </a:lnSpc>
              <a:buFont typeface="Arial"/>
              <a:buChar char="•"/>
            </a:pPr>
            <a:r>
              <a:rPr lang="en-US" sz="3499">
                <a:solidFill>
                  <a:srgbClr val="000000"/>
                </a:solidFill>
                <a:latin typeface="Times New Roman MT"/>
                <a:ea typeface="Times New Roman MT"/>
                <a:cs typeface="Times New Roman MT"/>
                <a:sym typeface="Times New Roman MT"/>
              </a:rPr>
              <a:t>A Streamlit app enables simple and quick prediction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DAHIOjztqyw</dc:identifier>
  <dcterms:modified xsi:type="dcterms:W3CDTF">2011-08-01T06:04:30Z</dcterms:modified>
  <cp:revision>1</cp:revision>
  <dc:title>Student Performance Prediction</dc:title>
</cp:coreProperties>
</file>