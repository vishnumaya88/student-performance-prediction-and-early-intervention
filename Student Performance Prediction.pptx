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8"/>
  </p:notes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TAN Twinkle" charset="1" panose="00000000000000000000"/>
      <p:regular r:id="rId16"/>
    </p:embeddedFont>
    <p:embeddedFont>
      <p:font typeface="Copperplate Gothic 29 BC Bold" charset="1" panose="020E0604020206020404"/>
      <p:regular r:id="rId17"/>
    </p:embeddedFont>
    <p:embeddedFont>
      <p:font typeface="Inter" charset="1" panose="020B0502030000000004"/>
      <p:regular r:id="rId21"/>
    </p:embeddedFont>
    <p:embeddedFont>
      <p:font typeface="Times New Roman MT" charset="1" panose="02030502070405020303"/>
      <p:regular r:id="rId22"/>
    </p:embeddedFont>
    <p:embeddedFont>
      <p:font typeface="Times New Roman MT Bold" charset="1" panose="02030802070405020303"/>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18" Target="notesMasters/notesMaster1.xml" Type="http://schemas.openxmlformats.org/officeDocument/2006/relationships/notesMaster"/><Relationship Id="rId19" Target="theme/theme2.xml" Type="http://schemas.openxmlformats.org/officeDocument/2006/relationships/theme"/><Relationship Id="rId2" Target="presProps.xml" Type="http://schemas.openxmlformats.org/officeDocument/2006/relationships/presProps"/><Relationship Id="rId20" Target="notesSlides/notesSlide1.xml" Type="http://schemas.openxmlformats.org/officeDocument/2006/relationships/notesSlide"/><Relationship Id="rId21" Target="fonts/font21.fntdata" Type="http://schemas.openxmlformats.org/officeDocument/2006/relationships/font"/><Relationship Id="rId22" Target="fonts/font22.fntdata" Type="http://schemas.openxmlformats.org/officeDocument/2006/relationships/font"/><Relationship Id="rId23" Target="notesSlides/notesSlide2.xml" Type="http://schemas.openxmlformats.org/officeDocument/2006/relationships/notesSlide"/><Relationship Id="rId24" Target="fonts/font24.fntdata" Type="http://schemas.openxmlformats.org/officeDocument/2006/relationships/font"/><Relationship Id="rId25" Target="notesSlides/notesSlide3.xml" Type="http://schemas.openxmlformats.org/officeDocument/2006/relationships/notesSlide"/><Relationship Id="rId26" Target="notesSlides/notesSlide4.xml" Type="http://schemas.openxmlformats.org/officeDocument/2006/relationships/notesSlide"/><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goal is to predict student performance (Pass/Fail) </a:t>
            </a:r>
          </a:p>
          <a:p>
            <a:r>
              <a:rPr lang="en-US"/>
              <a:t>using academic and behavioral factors such as study time, </a:t>
            </a:r>
          </a:p>
          <a:p>
            <a:r>
              <a:rPr lang="en-US"/>
              <a:t>absences, and past failures.</a:t>
            </a:r>
          </a:p>
          <a:p>
            <a:r>
              <a:rPr lang="en-US"/>
              <a:t/>
            </a:r>
          </a:p>
          <a:p>
            <a:r>
              <a:rPr lang="en-US"/>
              <a:t>The system helps identify at-risk students early </a:t>
            </a:r>
          </a:p>
          <a:p>
            <a:r>
              <a:rPr lang="en-US"/>
              <a:t>and enables timely intervention.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dataset used is the UCI Student Performance dataset. It includes academic and demographic details. We focused on key features like study time, failures, absences, and age. The target is whether a student passes or fails based on the final grade.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Removed G1, G2, G3”</a:t>
            </a:r>
          </a:p>
          <a:p>
            <a:r>
              <a:rPr lang="en-US"/>
              <a:t>        These are previous grades and directly influence the final grade, so including them would cause data leakage.</a:t>
            </a:r>
          </a:p>
          <a:p>
            <a:r>
              <a:rPr lang="en-US"/>
              <a:t/>
            </a:r>
          </a:p>
          <a:p>
            <a:r>
              <a:rPr lang="en-US"/>
              <a:t>In preprocessing, we created the target variable, removed G1, G2, G3 to avoid data leakage, encoded categorical variables, and split the dataset into training and testing sets.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 EDA, we analyzed how different factors affect performance. Students with higher study time perform better, while absences and past failures negatively impact results.</a:t>
            </a:r>
          </a:p>
          <a:p>
            <a:r>
              <a:rPr lang="en-US"/>
              <a:t/>
            </a:r>
          </a:p>
          <a:p>
            <a:r>
              <a:rPr lang="en-US"/>
              <a:t/>
            </a:r>
          </a:p>
          <a:p>
            <a:r>
              <a:rPr lang="en-US"/>
              <a:t/>
            </a:r>
          </a:p>
          <a:p>
            <a:r>
              <a:rPr lang="en-US"/>
              <a:t/>
            </a:r>
          </a:p>
          <a:p>
            <a:r>
              <a:rPr lang="en-US"/>
              <a:t>This graph shows that students who study more tend to pass more, while students with lower study time have a higher chance of failing.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p:cSld>
    <p:bg>
      <p:bgPr>
        <a:solidFill>
          <a:srgbClr val="FDFDFD"/>
        </a:solidFill>
      </p:bgPr>
    </p:bg>
    <p:spTree>
      <p:nvGrpSpPr>
        <p:cNvPr id="1" name=""/>
        <p:cNvGrpSpPr/>
        <p:nvPr/>
      </p:nvGrpSpPr>
      <p:grpSpPr>
        <a:xfrm>
          <a:off x="0" y="0"/>
          <a:ext cx="0" cy="0"/>
          <a:chOff x="0" y="0"/>
          <a:chExt cx="0" cy="0"/>
        </a:xfrm>
      </p:grpSpPr>
      <p:sp>
        <p:nvSpPr>
          <p:cNvPr name="AutoShape 2" id="2"/>
          <p:cNvSpPr/>
          <p:nvPr/>
        </p:nvSpPr>
        <p:spPr>
          <a:xfrm rot="0">
            <a:off x="1028700" y="9239250"/>
            <a:ext cx="16230600" cy="0"/>
          </a:xfrm>
          <a:prstGeom prst="line">
            <a:avLst/>
          </a:prstGeom>
          <a:ln cap="flat" w="19050">
            <a:solidFill>
              <a:srgbClr val="000000"/>
            </a:solidFill>
            <a:prstDash val="solid"/>
            <a:headEnd type="none" len="sm" w="sm"/>
            <a:tailEnd type="none" len="sm" w="sm"/>
          </a:ln>
        </p:spPr>
      </p:sp>
      <p:sp>
        <p:nvSpPr>
          <p:cNvPr name="AutoShape 3" id="3"/>
          <p:cNvSpPr/>
          <p:nvPr/>
        </p:nvSpPr>
        <p:spPr>
          <a:xfrm rot="0">
            <a:off x="1028700" y="8459058"/>
            <a:ext cx="16230600" cy="0"/>
          </a:xfrm>
          <a:prstGeom prst="line">
            <a:avLst/>
          </a:prstGeom>
          <a:ln cap="flat" w="19050">
            <a:solidFill>
              <a:srgbClr val="000000"/>
            </a:solidFill>
            <a:prstDash val="solid"/>
            <a:headEnd type="none" len="sm" w="sm"/>
            <a:tailEnd type="none" len="sm" w="sm"/>
          </a:ln>
        </p:spPr>
      </p:sp>
      <p:sp>
        <p:nvSpPr>
          <p:cNvPr name="AutoShape 4" id="4"/>
          <p:cNvSpPr/>
          <p:nvPr/>
        </p:nvSpPr>
        <p:spPr>
          <a:xfrm rot="0">
            <a:off x="1028700" y="1028700"/>
            <a:ext cx="16230600" cy="0"/>
          </a:xfrm>
          <a:prstGeom prst="line">
            <a:avLst/>
          </a:prstGeom>
          <a:ln cap="flat" w="19050">
            <a:solidFill>
              <a:srgbClr val="000000"/>
            </a:solidFill>
            <a:prstDash val="solid"/>
            <a:headEnd type="none" len="sm" w="sm"/>
            <a:tailEnd type="none" len="sm" w="sm"/>
          </a:ln>
        </p:spPr>
      </p:sp>
      <p:grpSp>
        <p:nvGrpSpPr>
          <p:cNvPr name="Group 5" id="5"/>
          <p:cNvGrpSpPr/>
          <p:nvPr/>
        </p:nvGrpSpPr>
        <p:grpSpPr>
          <a:xfrm rot="0">
            <a:off x="1028700" y="2057400"/>
            <a:ext cx="3086100" cy="3086100"/>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4EFED"/>
            </a:solidFill>
          </p:spPr>
        </p:sp>
        <p:sp>
          <p:nvSpPr>
            <p:cNvPr name="TextBox 7" id="7"/>
            <p:cNvSpPr txBox="true"/>
            <p:nvPr/>
          </p:nvSpPr>
          <p:spPr>
            <a:xfrm>
              <a:off x="76200" y="38100"/>
              <a:ext cx="660400" cy="698500"/>
            </a:xfrm>
            <a:prstGeom prst="rect">
              <a:avLst/>
            </a:prstGeom>
          </p:spPr>
          <p:txBody>
            <a:bodyPr anchor="ctr" rtlCol="false" tIns="50800" lIns="50800" bIns="50800" rIns="50800"/>
            <a:lstStyle/>
            <a:p>
              <a:pPr algn="ctr">
                <a:lnSpc>
                  <a:spcPts val="2800"/>
                </a:lnSpc>
              </a:pPr>
            </a:p>
          </p:txBody>
        </p:sp>
      </p:grpSp>
      <p:sp>
        <p:nvSpPr>
          <p:cNvPr name="TextBox 8" id="8"/>
          <p:cNvSpPr txBox="true"/>
          <p:nvPr/>
        </p:nvSpPr>
        <p:spPr>
          <a:xfrm rot="0">
            <a:off x="2571750" y="3328782"/>
            <a:ext cx="12726062" cy="2879725"/>
          </a:xfrm>
          <a:prstGeom prst="rect">
            <a:avLst/>
          </a:prstGeom>
        </p:spPr>
        <p:txBody>
          <a:bodyPr anchor="t" rtlCol="false" tIns="0" lIns="0" bIns="0" rIns="0">
            <a:spAutoFit/>
          </a:bodyPr>
          <a:lstStyle/>
          <a:p>
            <a:pPr algn="l">
              <a:lnSpc>
                <a:spcPts val="7699"/>
              </a:lnSpc>
            </a:pPr>
            <a:r>
              <a:rPr lang="en-US" sz="5499">
                <a:solidFill>
                  <a:srgbClr val="000000"/>
                </a:solidFill>
                <a:latin typeface="TAN Twinkle"/>
                <a:ea typeface="TAN Twinkle"/>
                <a:cs typeface="TAN Twinkle"/>
                <a:sym typeface="TAN Twinkle"/>
              </a:rPr>
              <a:t>Student Performance Prediction and Early Intervention</a:t>
            </a:r>
          </a:p>
        </p:txBody>
      </p:sp>
      <p:sp>
        <p:nvSpPr>
          <p:cNvPr name="TextBox 9" id="9"/>
          <p:cNvSpPr txBox="true"/>
          <p:nvPr/>
        </p:nvSpPr>
        <p:spPr>
          <a:xfrm rot="0">
            <a:off x="12681994" y="7186024"/>
            <a:ext cx="3447211" cy="739774"/>
          </a:xfrm>
          <a:prstGeom prst="rect">
            <a:avLst/>
          </a:prstGeom>
        </p:spPr>
        <p:txBody>
          <a:bodyPr anchor="t" rtlCol="false" tIns="0" lIns="0" bIns="0" rIns="0">
            <a:spAutoFit/>
          </a:bodyPr>
          <a:lstStyle/>
          <a:p>
            <a:pPr algn="just">
              <a:lnSpc>
                <a:spcPts val="2800"/>
              </a:lnSpc>
            </a:pPr>
            <a:r>
              <a:rPr lang="en-US" sz="2000">
                <a:solidFill>
                  <a:srgbClr val="000000"/>
                </a:solidFill>
                <a:latin typeface="Copperplate Gothic 29 BC Bold"/>
                <a:ea typeface="Copperplate Gothic 29 BC Bold"/>
                <a:cs typeface="Copperplate Gothic 29 BC Bold"/>
                <a:sym typeface="Copperplate Gothic 29 BC Bold"/>
              </a:rPr>
              <a:t>Akshaya KP  BIO AI</a:t>
            </a:r>
          </a:p>
          <a:p>
            <a:pPr algn="just">
              <a:lnSpc>
                <a:spcPts val="2800"/>
              </a:lnSpc>
            </a:pPr>
            <a:r>
              <a:rPr lang="en-US" sz="2000">
                <a:solidFill>
                  <a:srgbClr val="000000"/>
                </a:solidFill>
                <a:latin typeface="Copperplate Gothic 29 BC Bold"/>
                <a:ea typeface="Copperplate Gothic 29 BC Bold"/>
                <a:cs typeface="Copperplate Gothic 29 BC Bold"/>
                <a:sym typeface="Copperplate Gothic 29 BC Bold"/>
              </a:rPr>
              <a:t>Vishnumaya PK  CSDA</a:t>
            </a:r>
          </a:p>
        </p:txBody>
      </p:sp>
      <p:sp>
        <p:nvSpPr>
          <p:cNvPr name="TextBox 10" id="10"/>
          <p:cNvSpPr txBox="true"/>
          <p:nvPr/>
        </p:nvSpPr>
        <p:spPr>
          <a:xfrm rot="0">
            <a:off x="11850601" y="6910435"/>
            <a:ext cx="3447211" cy="361314"/>
          </a:xfrm>
          <a:prstGeom prst="rect">
            <a:avLst/>
          </a:prstGeom>
        </p:spPr>
        <p:txBody>
          <a:bodyPr anchor="t" rtlCol="false" tIns="0" lIns="0" bIns="0" rIns="0">
            <a:spAutoFit/>
          </a:bodyPr>
          <a:lstStyle/>
          <a:p>
            <a:pPr algn="just">
              <a:lnSpc>
                <a:spcPts val="2660"/>
              </a:lnSpc>
            </a:pPr>
            <a:r>
              <a:rPr lang="en-US" sz="1900">
                <a:solidFill>
                  <a:srgbClr val="000000"/>
                </a:solidFill>
                <a:latin typeface="Copperplate Gothic 29 BC Bold"/>
                <a:ea typeface="Copperplate Gothic 29 BC Bold"/>
                <a:cs typeface="Copperplate Gothic 29 BC Bold"/>
                <a:sym typeface="Copperplate Gothic 29 BC Bold"/>
              </a:rPr>
              <a:t>Presented By:</a:t>
            </a:r>
          </a:p>
        </p:txBody>
      </p:sp>
    </p:spTree>
  </p:cSld>
  <p:clrMapOvr>
    <a:masterClrMapping/>
  </p:clrMapOvr>
</p:sld>
</file>

<file path=ppt/slides/slide2.xml><?xml version="1.0" encoding="utf-8"?>
<p:sld xmlns:p="http://schemas.openxmlformats.org/presentationml/2006/main" xmlns:a="http://schemas.openxmlformats.org/drawingml/2006/main">
  <p:cSld>
    <p:bg>
      <p:bgPr>
        <a:solidFill>
          <a:srgbClr val="FDFDFD"/>
        </a:solidFill>
      </p:bgPr>
    </p:bg>
    <p:spTree>
      <p:nvGrpSpPr>
        <p:cNvPr id="1" name=""/>
        <p:cNvGrpSpPr/>
        <p:nvPr/>
      </p:nvGrpSpPr>
      <p:grpSpPr>
        <a:xfrm>
          <a:off x="0" y="0"/>
          <a:ext cx="0" cy="0"/>
          <a:chOff x="0" y="0"/>
          <a:chExt cx="0" cy="0"/>
        </a:xfrm>
      </p:grpSpPr>
      <p:sp>
        <p:nvSpPr>
          <p:cNvPr name="AutoShape 2" id="2"/>
          <p:cNvSpPr/>
          <p:nvPr/>
        </p:nvSpPr>
        <p:spPr>
          <a:xfrm rot="0">
            <a:off x="1028700" y="9239250"/>
            <a:ext cx="16230600" cy="0"/>
          </a:xfrm>
          <a:prstGeom prst="line">
            <a:avLst/>
          </a:prstGeom>
          <a:ln cap="flat" w="19050">
            <a:solidFill>
              <a:srgbClr val="000000"/>
            </a:solidFill>
            <a:prstDash val="solid"/>
            <a:headEnd type="none" len="sm" w="sm"/>
            <a:tailEnd type="none" len="sm" w="sm"/>
          </a:ln>
        </p:spPr>
      </p:sp>
      <p:sp>
        <p:nvSpPr>
          <p:cNvPr name="AutoShape 3" id="3"/>
          <p:cNvSpPr/>
          <p:nvPr/>
        </p:nvSpPr>
        <p:spPr>
          <a:xfrm rot="0">
            <a:off x="1028700" y="1028700"/>
            <a:ext cx="16230600" cy="0"/>
          </a:xfrm>
          <a:prstGeom prst="line">
            <a:avLst/>
          </a:prstGeom>
          <a:ln cap="flat" w="19050">
            <a:solidFill>
              <a:srgbClr val="000000"/>
            </a:solidFill>
            <a:prstDash val="solid"/>
            <a:headEnd type="none" len="sm" w="sm"/>
            <a:tailEnd type="none" len="sm" w="sm"/>
          </a:ln>
        </p:spPr>
      </p:sp>
      <p:grpSp>
        <p:nvGrpSpPr>
          <p:cNvPr name="Group 4" id="4"/>
          <p:cNvGrpSpPr/>
          <p:nvPr/>
        </p:nvGrpSpPr>
        <p:grpSpPr>
          <a:xfrm rot="0">
            <a:off x="1028700" y="1444588"/>
            <a:ext cx="3086100" cy="3086100"/>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4EFED"/>
            </a:solidFill>
          </p:spPr>
        </p:sp>
        <p:sp>
          <p:nvSpPr>
            <p:cNvPr name="TextBox 6" id="6"/>
            <p:cNvSpPr txBox="true"/>
            <p:nvPr/>
          </p:nvSpPr>
          <p:spPr>
            <a:xfrm>
              <a:off x="76200" y="38100"/>
              <a:ext cx="660400" cy="698500"/>
            </a:xfrm>
            <a:prstGeom prst="rect">
              <a:avLst/>
            </a:prstGeom>
          </p:spPr>
          <p:txBody>
            <a:bodyPr anchor="ctr" rtlCol="false" tIns="50800" lIns="50800" bIns="50800" rIns="50800"/>
            <a:lstStyle/>
            <a:p>
              <a:pPr algn="ctr">
                <a:lnSpc>
                  <a:spcPts val="2800"/>
                </a:lnSpc>
              </a:pPr>
            </a:p>
          </p:txBody>
        </p:sp>
      </p:grpSp>
      <p:sp>
        <p:nvSpPr>
          <p:cNvPr name="TextBox 7" id="7"/>
          <p:cNvSpPr txBox="true"/>
          <p:nvPr/>
        </p:nvSpPr>
        <p:spPr>
          <a:xfrm rot="0">
            <a:off x="14299551" y="8660242"/>
            <a:ext cx="2959749" cy="349250"/>
          </a:xfrm>
          <a:prstGeom prst="rect">
            <a:avLst/>
          </a:prstGeom>
        </p:spPr>
        <p:txBody>
          <a:bodyPr anchor="t" rtlCol="false" tIns="0" lIns="0" bIns="0" rIns="0">
            <a:spAutoFit/>
          </a:bodyPr>
          <a:lstStyle/>
          <a:p>
            <a:pPr algn="r">
              <a:lnSpc>
                <a:spcPts val="2800"/>
              </a:lnSpc>
              <a:spcBef>
                <a:spcPct val="0"/>
              </a:spcBef>
            </a:pPr>
            <a:r>
              <a:rPr lang="en-US" sz="2000" spc="600">
                <a:solidFill>
                  <a:srgbClr val="000000"/>
                </a:solidFill>
                <a:latin typeface="Inter"/>
                <a:ea typeface="Inter"/>
                <a:cs typeface="Inter"/>
                <a:sym typeface="Inter"/>
              </a:rPr>
              <a:t>PAGE 02</a:t>
            </a:r>
          </a:p>
        </p:txBody>
      </p:sp>
      <p:sp>
        <p:nvSpPr>
          <p:cNvPr name="TextBox 8" id="8"/>
          <p:cNvSpPr txBox="true"/>
          <p:nvPr/>
        </p:nvSpPr>
        <p:spPr>
          <a:xfrm rot="0">
            <a:off x="2571750" y="2503450"/>
            <a:ext cx="9735000" cy="863600"/>
          </a:xfrm>
          <a:prstGeom prst="rect">
            <a:avLst/>
          </a:prstGeom>
        </p:spPr>
        <p:txBody>
          <a:bodyPr anchor="t" rtlCol="false" tIns="0" lIns="0" bIns="0" rIns="0">
            <a:spAutoFit/>
          </a:bodyPr>
          <a:lstStyle/>
          <a:p>
            <a:pPr algn="l">
              <a:lnSpc>
                <a:spcPts val="7000"/>
              </a:lnSpc>
            </a:pPr>
            <a:r>
              <a:rPr lang="en-US" sz="5000">
                <a:solidFill>
                  <a:srgbClr val="000000"/>
                </a:solidFill>
                <a:latin typeface="TAN Twinkle"/>
                <a:ea typeface="TAN Twinkle"/>
                <a:cs typeface="TAN Twinkle"/>
                <a:sym typeface="TAN Twinkle"/>
              </a:rPr>
              <a:t>Problem Statement</a:t>
            </a:r>
          </a:p>
        </p:txBody>
      </p:sp>
      <p:sp>
        <p:nvSpPr>
          <p:cNvPr name="TextBox 9" id="9"/>
          <p:cNvSpPr txBox="true"/>
          <p:nvPr/>
        </p:nvSpPr>
        <p:spPr>
          <a:xfrm rot="0">
            <a:off x="2571750" y="4397338"/>
            <a:ext cx="12470262" cy="3759201"/>
          </a:xfrm>
          <a:prstGeom prst="rect">
            <a:avLst/>
          </a:prstGeom>
        </p:spPr>
        <p:txBody>
          <a:bodyPr anchor="t" rtlCol="false" tIns="0" lIns="0" bIns="0" rIns="0">
            <a:spAutoFit/>
          </a:bodyPr>
          <a:lstStyle/>
          <a:p>
            <a:pPr algn="just" marL="755642" indent="-377821" lvl="1">
              <a:lnSpc>
                <a:spcPts val="4899"/>
              </a:lnSpc>
              <a:buFont typeface="Arial"/>
              <a:buChar char="•"/>
            </a:pPr>
            <a:r>
              <a:rPr lang="en-US" sz="3499">
                <a:solidFill>
                  <a:srgbClr val="000000"/>
                </a:solidFill>
                <a:latin typeface="Times New Roman MT"/>
                <a:ea typeface="Times New Roman MT"/>
                <a:cs typeface="Times New Roman MT"/>
                <a:sym typeface="Times New Roman MT"/>
              </a:rPr>
              <a:t>Pre</a:t>
            </a:r>
            <a:r>
              <a:rPr lang="en-US" sz="3499">
                <a:solidFill>
                  <a:srgbClr val="000000"/>
                </a:solidFill>
                <a:latin typeface="Times New Roman MT"/>
                <a:ea typeface="Times New Roman MT"/>
                <a:cs typeface="Times New Roman MT"/>
                <a:sym typeface="Times New Roman MT"/>
              </a:rPr>
              <a:t>dict student performance (Pass/Fail)</a:t>
            </a:r>
          </a:p>
          <a:p>
            <a:pPr algn="just" marL="755642" indent="-377821" lvl="1">
              <a:lnSpc>
                <a:spcPts val="4899"/>
              </a:lnSpc>
              <a:buFont typeface="Arial"/>
              <a:buChar char="•"/>
            </a:pPr>
            <a:r>
              <a:rPr lang="en-US" sz="3499">
                <a:solidFill>
                  <a:srgbClr val="000000"/>
                </a:solidFill>
                <a:latin typeface="Times New Roman MT"/>
                <a:ea typeface="Times New Roman MT"/>
                <a:cs typeface="Times New Roman MT"/>
                <a:sym typeface="Times New Roman MT"/>
              </a:rPr>
              <a:t>An</a:t>
            </a:r>
            <a:r>
              <a:rPr lang="en-US" sz="3499">
                <a:solidFill>
                  <a:srgbClr val="000000"/>
                </a:solidFill>
                <a:latin typeface="Times New Roman MT"/>
                <a:ea typeface="Times New Roman MT"/>
                <a:cs typeface="Times New Roman MT"/>
                <a:sym typeface="Times New Roman MT"/>
              </a:rPr>
              <a:t>alyze academic factors (study time, failures)</a:t>
            </a:r>
          </a:p>
          <a:p>
            <a:pPr algn="just" marL="755642" indent="-377821" lvl="1">
              <a:lnSpc>
                <a:spcPts val="4899"/>
              </a:lnSpc>
              <a:buFont typeface="Arial"/>
              <a:buChar char="•"/>
            </a:pPr>
            <a:r>
              <a:rPr lang="en-US" sz="3499">
                <a:solidFill>
                  <a:srgbClr val="000000"/>
                </a:solidFill>
                <a:latin typeface="Times New Roman MT"/>
                <a:ea typeface="Times New Roman MT"/>
                <a:cs typeface="Times New Roman MT"/>
                <a:sym typeface="Times New Roman MT"/>
              </a:rPr>
              <a:t>An</a:t>
            </a:r>
            <a:r>
              <a:rPr lang="en-US" sz="3499">
                <a:solidFill>
                  <a:srgbClr val="000000"/>
                </a:solidFill>
                <a:latin typeface="Times New Roman MT"/>
                <a:ea typeface="Times New Roman MT"/>
                <a:cs typeface="Times New Roman MT"/>
                <a:sym typeface="Times New Roman MT"/>
              </a:rPr>
              <a:t>alyze behavioral factors (attendance, consistency)</a:t>
            </a:r>
          </a:p>
          <a:p>
            <a:pPr algn="just" marL="755642" indent="-377821" lvl="1">
              <a:lnSpc>
                <a:spcPts val="4899"/>
              </a:lnSpc>
              <a:buFont typeface="Arial"/>
              <a:buChar char="•"/>
            </a:pPr>
            <a:r>
              <a:rPr lang="en-US" sz="3499">
                <a:solidFill>
                  <a:srgbClr val="000000"/>
                </a:solidFill>
                <a:latin typeface="Times New Roman MT"/>
                <a:ea typeface="Times New Roman MT"/>
                <a:cs typeface="Times New Roman MT"/>
                <a:sym typeface="Times New Roman MT"/>
              </a:rPr>
              <a:t>Identify at-risk students early</a:t>
            </a:r>
          </a:p>
          <a:p>
            <a:pPr algn="just" marL="755642" indent="-377821" lvl="1">
              <a:lnSpc>
                <a:spcPts val="4899"/>
              </a:lnSpc>
              <a:buFont typeface="Arial"/>
              <a:buChar char="•"/>
            </a:pPr>
            <a:r>
              <a:rPr lang="en-US" sz="3499">
                <a:solidFill>
                  <a:srgbClr val="000000"/>
                </a:solidFill>
                <a:latin typeface="Times New Roman MT"/>
                <a:ea typeface="Times New Roman MT"/>
                <a:cs typeface="Times New Roman MT"/>
                <a:sym typeface="Times New Roman MT"/>
              </a:rPr>
              <a:t>Enable</a:t>
            </a:r>
            <a:r>
              <a:rPr lang="en-US" sz="3499">
                <a:solidFill>
                  <a:srgbClr val="000000"/>
                </a:solidFill>
                <a:latin typeface="Times New Roman MT"/>
                <a:ea typeface="Times New Roman MT"/>
                <a:cs typeface="Times New Roman MT"/>
                <a:sym typeface="Times New Roman MT"/>
              </a:rPr>
              <a:t> timely academic intervention</a:t>
            </a:r>
          </a:p>
          <a:p>
            <a:pPr algn="just">
              <a:lnSpc>
                <a:spcPts val="4899"/>
              </a:lnSpc>
            </a:pPr>
          </a:p>
        </p:txBody>
      </p:sp>
    </p:spTree>
  </p:cSld>
  <p:clrMapOvr>
    <a:masterClrMapping/>
  </p:clrMapOvr>
</p:sld>
</file>

<file path=ppt/slides/slide3.xml><?xml version="1.0" encoding="utf-8"?>
<p:sld xmlns:p="http://schemas.openxmlformats.org/presentationml/2006/main" xmlns:a="http://schemas.openxmlformats.org/drawingml/2006/main">
  <p:cSld>
    <p:bg>
      <p:bgPr>
        <a:solidFill>
          <a:srgbClr val="FDFDFD"/>
        </a:solidFill>
      </p:bgPr>
    </p:bg>
    <p:spTree>
      <p:nvGrpSpPr>
        <p:cNvPr id="1" name=""/>
        <p:cNvGrpSpPr/>
        <p:nvPr/>
      </p:nvGrpSpPr>
      <p:grpSpPr>
        <a:xfrm>
          <a:off x="0" y="0"/>
          <a:ext cx="0" cy="0"/>
          <a:chOff x="0" y="0"/>
          <a:chExt cx="0" cy="0"/>
        </a:xfrm>
      </p:grpSpPr>
      <p:sp>
        <p:nvSpPr>
          <p:cNvPr name="AutoShape 2" id="2"/>
          <p:cNvSpPr/>
          <p:nvPr/>
        </p:nvSpPr>
        <p:spPr>
          <a:xfrm rot="0">
            <a:off x="1028700" y="9239250"/>
            <a:ext cx="16230600" cy="0"/>
          </a:xfrm>
          <a:prstGeom prst="line">
            <a:avLst/>
          </a:prstGeom>
          <a:ln cap="flat" w="19050">
            <a:solidFill>
              <a:srgbClr val="000000"/>
            </a:solidFill>
            <a:prstDash val="solid"/>
            <a:headEnd type="none" len="sm" w="sm"/>
            <a:tailEnd type="none" len="sm" w="sm"/>
          </a:ln>
        </p:spPr>
      </p:sp>
      <p:sp>
        <p:nvSpPr>
          <p:cNvPr name="AutoShape 3" id="3"/>
          <p:cNvSpPr/>
          <p:nvPr/>
        </p:nvSpPr>
        <p:spPr>
          <a:xfrm rot="0">
            <a:off x="1028700" y="1028700"/>
            <a:ext cx="16230600" cy="0"/>
          </a:xfrm>
          <a:prstGeom prst="line">
            <a:avLst/>
          </a:prstGeom>
          <a:ln cap="flat" w="19050">
            <a:solidFill>
              <a:srgbClr val="000000"/>
            </a:solidFill>
            <a:prstDash val="solid"/>
            <a:headEnd type="none" len="sm" w="sm"/>
            <a:tailEnd type="none" len="sm" w="sm"/>
          </a:ln>
        </p:spPr>
      </p:sp>
      <p:sp>
        <p:nvSpPr>
          <p:cNvPr name="TextBox 4" id="4"/>
          <p:cNvSpPr txBox="true"/>
          <p:nvPr/>
        </p:nvSpPr>
        <p:spPr>
          <a:xfrm rot="0">
            <a:off x="1707765" y="1526553"/>
            <a:ext cx="9167169" cy="863600"/>
          </a:xfrm>
          <a:prstGeom prst="rect">
            <a:avLst/>
          </a:prstGeom>
        </p:spPr>
        <p:txBody>
          <a:bodyPr anchor="t" rtlCol="false" tIns="0" lIns="0" bIns="0" rIns="0">
            <a:spAutoFit/>
          </a:bodyPr>
          <a:lstStyle/>
          <a:p>
            <a:pPr algn="l">
              <a:lnSpc>
                <a:spcPts val="7000"/>
              </a:lnSpc>
            </a:pPr>
            <a:r>
              <a:rPr lang="en-US" sz="5000">
                <a:solidFill>
                  <a:srgbClr val="000000"/>
                </a:solidFill>
                <a:latin typeface="TAN Twinkle"/>
                <a:ea typeface="TAN Twinkle"/>
                <a:cs typeface="TAN Twinkle"/>
                <a:sym typeface="TAN Twinkle"/>
              </a:rPr>
              <a:t>Dataset</a:t>
            </a:r>
          </a:p>
        </p:txBody>
      </p:sp>
      <p:sp>
        <p:nvSpPr>
          <p:cNvPr name="TextBox 5" id="5"/>
          <p:cNvSpPr txBox="true"/>
          <p:nvPr/>
        </p:nvSpPr>
        <p:spPr>
          <a:xfrm rot="0">
            <a:off x="2075744" y="3067057"/>
            <a:ext cx="12690448" cy="1282700"/>
          </a:xfrm>
          <a:prstGeom prst="rect">
            <a:avLst/>
          </a:prstGeom>
        </p:spPr>
        <p:txBody>
          <a:bodyPr anchor="t" rtlCol="false" tIns="0" lIns="0" bIns="0" rIns="0">
            <a:spAutoFit/>
          </a:bodyPr>
          <a:lstStyle/>
          <a:p>
            <a:pPr algn="l" marL="755649" indent="-377824" lvl="1">
              <a:lnSpc>
                <a:spcPts val="4899"/>
              </a:lnSpc>
              <a:buFont typeface="Arial"/>
              <a:buChar char="•"/>
            </a:pPr>
            <a:r>
              <a:rPr lang="en-US" sz="3499">
                <a:solidFill>
                  <a:srgbClr val="000000"/>
                </a:solidFill>
                <a:latin typeface="Times New Roman MT"/>
                <a:ea typeface="Times New Roman MT"/>
                <a:cs typeface="Times New Roman MT"/>
                <a:sym typeface="Times New Roman MT"/>
              </a:rPr>
              <a:t>UCI Stu</a:t>
            </a:r>
            <a:r>
              <a:rPr lang="en-US" sz="3499">
                <a:solidFill>
                  <a:srgbClr val="000000"/>
                </a:solidFill>
                <a:latin typeface="Times New Roman MT"/>
                <a:ea typeface="Times New Roman MT"/>
                <a:cs typeface="Times New Roman MT"/>
                <a:sym typeface="Times New Roman MT"/>
              </a:rPr>
              <a:t>dent Performance Dataset</a:t>
            </a:r>
          </a:p>
          <a:p>
            <a:pPr algn="l" marL="755649" indent="-377824" lvl="1">
              <a:lnSpc>
                <a:spcPts val="4899"/>
              </a:lnSpc>
              <a:buFont typeface="Arial"/>
              <a:buChar char="•"/>
            </a:pPr>
            <a:r>
              <a:rPr lang="en-US" sz="3499">
                <a:solidFill>
                  <a:srgbClr val="000000"/>
                </a:solidFill>
                <a:latin typeface="Times New Roman MT"/>
                <a:ea typeface="Times New Roman MT"/>
                <a:cs typeface="Times New Roman MT"/>
                <a:sym typeface="Times New Roman MT"/>
              </a:rPr>
              <a:t>Contains student academic and demographic data</a:t>
            </a:r>
          </a:p>
        </p:txBody>
      </p:sp>
      <p:sp>
        <p:nvSpPr>
          <p:cNvPr name="TextBox 6" id="6"/>
          <p:cNvSpPr txBox="true"/>
          <p:nvPr/>
        </p:nvSpPr>
        <p:spPr>
          <a:xfrm rot="0">
            <a:off x="2558831" y="4797432"/>
            <a:ext cx="6282147" cy="3140075"/>
          </a:xfrm>
          <a:prstGeom prst="rect">
            <a:avLst/>
          </a:prstGeom>
        </p:spPr>
        <p:txBody>
          <a:bodyPr anchor="t" rtlCol="false" tIns="0" lIns="0" bIns="0" rIns="0">
            <a:spAutoFit/>
          </a:bodyPr>
          <a:lstStyle/>
          <a:p>
            <a:pPr algn="just">
              <a:lnSpc>
                <a:spcPts val="4899"/>
              </a:lnSpc>
            </a:pPr>
            <a:r>
              <a:rPr lang="en-US" sz="3499" b="true">
                <a:solidFill>
                  <a:srgbClr val="000000"/>
                </a:solidFill>
                <a:latin typeface="Times New Roman MT Bold"/>
                <a:ea typeface="Times New Roman MT Bold"/>
                <a:cs typeface="Times New Roman MT Bold"/>
                <a:sym typeface="Times New Roman MT Bold"/>
              </a:rPr>
              <a:t>Key Features:</a:t>
            </a:r>
          </a:p>
          <a:p>
            <a:pPr algn="just" marL="755647" indent="-377824" lvl="1">
              <a:lnSpc>
                <a:spcPts val="4899"/>
              </a:lnSpc>
              <a:buFont typeface="Arial"/>
              <a:buChar char="•"/>
            </a:pPr>
            <a:r>
              <a:rPr lang="en-US" sz="3499">
                <a:solidFill>
                  <a:srgbClr val="000000"/>
                </a:solidFill>
                <a:latin typeface="Times New Roman MT"/>
                <a:ea typeface="Times New Roman MT"/>
                <a:cs typeface="Times New Roman MT"/>
                <a:sym typeface="Times New Roman MT"/>
              </a:rPr>
              <a:t>Stu</a:t>
            </a:r>
            <a:r>
              <a:rPr lang="en-US" sz="3499">
                <a:solidFill>
                  <a:srgbClr val="000000"/>
                </a:solidFill>
                <a:latin typeface="Times New Roman MT"/>
                <a:ea typeface="Times New Roman MT"/>
                <a:cs typeface="Times New Roman MT"/>
                <a:sym typeface="Times New Roman MT"/>
              </a:rPr>
              <a:t>dy time</a:t>
            </a:r>
          </a:p>
          <a:p>
            <a:pPr algn="just" marL="755647" indent="-377824" lvl="1">
              <a:lnSpc>
                <a:spcPts val="4899"/>
              </a:lnSpc>
              <a:buFont typeface="Arial"/>
              <a:buChar char="•"/>
            </a:pPr>
            <a:r>
              <a:rPr lang="en-US" sz="3499">
                <a:solidFill>
                  <a:srgbClr val="000000"/>
                </a:solidFill>
                <a:latin typeface="Times New Roman MT"/>
                <a:ea typeface="Times New Roman MT"/>
                <a:cs typeface="Times New Roman MT"/>
                <a:sym typeface="Times New Roman MT"/>
              </a:rPr>
              <a:t>Failures</a:t>
            </a:r>
          </a:p>
          <a:p>
            <a:pPr algn="just" marL="755647" indent="-377824" lvl="1">
              <a:lnSpc>
                <a:spcPts val="4899"/>
              </a:lnSpc>
              <a:buFont typeface="Arial"/>
              <a:buChar char="•"/>
            </a:pPr>
            <a:r>
              <a:rPr lang="en-US" sz="3499">
                <a:solidFill>
                  <a:srgbClr val="000000"/>
                </a:solidFill>
                <a:latin typeface="Times New Roman MT"/>
                <a:ea typeface="Times New Roman MT"/>
                <a:cs typeface="Times New Roman MT"/>
                <a:sym typeface="Times New Roman MT"/>
              </a:rPr>
              <a:t>Absences</a:t>
            </a:r>
          </a:p>
          <a:p>
            <a:pPr algn="just" marL="755647" indent="-377824" lvl="1">
              <a:lnSpc>
                <a:spcPts val="4899"/>
              </a:lnSpc>
              <a:buFont typeface="Arial"/>
              <a:buChar char="•"/>
            </a:pPr>
            <a:r>
              <a:rPr lang="en-US" sz="3499">
                <a:solidFill>
                  <a:srgbClr val="000000"/>
                </a:solidFill>
                <a:latin typeface="Times New Roman MT"/>
                <a:ea typeface="Times New Roman MT"/>
                <a:cs typeface="Times New Roman MT"/>
                <a:sym typeface="Times New Roman MT"/>
              </a:rPr>
              <a:t>Age</a:t>
            </a:r>
          </a:p>
        </p:txBody>
      </p:sp>
      <p:sp>
        <p:nvSpPr>
          <p:cNvPr name="TextBox 7" id="7"/>
          <p:cNvSpPr txBox="true"/>
          <p:nvPr/>
        </p:nvSpPr>
        <p:spPr>
          <a:xfrm rot="0">
            <a:off x="9511115" y="4797432"/>
            <a:ext cx="4788436" cy="2520950"/>
          </a:xfrm>
          <a:prstGeom prst="rect">
            <a:avLst/>
          </a:prstGeom>
        </p:spPr>
        <p:txBody>
          <a:bodyPr anchor="t" rtlCol="false" tIns="0" lIns="0" bIns="0" rIns="0">
            <a:spAutoFit/>
          </a:bodyPr>
          <a:lstStyle/>
          <a:p>
            <a:pPr algn="just">
              <a:lnSpc>
                <a:spcPts val="4899"/>
              </a:lnSpc>
            </a:pPr>
            <a:r>
              <a:rPr lang="en-US" sz="3499" b="true">
                <a:solidFill>
                  <a:srgbClr val="000000"/>
                </a:solidFill>
                <a:latin typeface="Times New Roman MT Bold"/>
                <a:ea typeface="Times New Roman MT Bold"/>
                <a:cs typeface="Times New Roman MT Bold"/>
                <a:sym typeface="Times New Roman MT Bold"/>
              </a:rPr>
              <a:t>T</a:t>
            </a:r>
            <a:r>
              <a:rPr lang="en-US" b="true" sz="3499">
                <a:solidFill>
                  <a:srgbClr val="000000"/>
                </a:solidFill>
                <a:latin typeface="Times New Roman MT Bold"/>
                <a:ea typeface="Times New Roman MT Bold"/>
                <a:cs typeface="Times New Roman MT Bold"/>
                <a:sym typeface="Times New Roman MT Bold"/>
              </a:rPr>
              <a:t>arget Variable:</a:t>
            </a:r>
          </a:p>
          <a:p>
            <a:pPr algn="just" marL="755649" indent="-377824" lvl="1">
              <a:lnSpc>
                <a:spcPts val="4899"/>
              </a:lnSpc>
              <a:buFont typeface="Arial"/>
              <a:buChar char="•"/>
            </a:pPr>
            <a:r>
              <a:rPr lang="en-US" sz="3499">
                <a:solidFill>
                  <a:srgbClr val="000000"/>
                </a:solidFill>
                <a:latin typeface="Times New Roman MT"/>
                <a:ea typeface="Times New Roman MT"/>
                <a:cs typeface="Times New Roman MT"/>
                <a:sym typeface="Times New Roman MT"/>
              </a:rPr>
              <a:t>Pass → G3 ≥ 10</a:t>
            </a:r>
          </a:p>
          <a:p>
            <a:pPr algn="just" marL="755649" indent="-377824" lvl="1">
              <a:lnSpc>
                <a:spcPts val="4899"/>
              </a:lnSpc>
              <a:buFont typeface="Arial"/>
              <a:buChar char="•"/>
            </a:pPr>
            <a:r>
              <a:rPr lang="en-US" sz="3499">
                <a:solidFill>
                  <a:srgbClr val="000000"/>
                </a:solidFill>
                <a:latin typeface="Times New Roman MT"/>
                <a:ea typeface="Times New Roman MT"/>
                <a:cs typeface="Times New Roman MT"/>
                <a:sym typeface="Times New Roman MT"/>
              </a:rPr>
              <a:t>Fail → G3 &lt; 10</a:t>
            </a:r>
          </a:p>
          <a:p>
            <a:pPr algn="just">
              <a:lnSpc>
                <a:spcPts val="4899"/>
              </a:lnSpc>
            </a:pPr>
          </a:p>
        </p:txBody>
      </p:sp>
      <p:sp>
        <p:nvSpPr>
          <p:cNvPr name="TextBox 8" id="8"/>
          <p:cNvSpPr txBox="true"/>
          <p:nvPr/>
        </p:nvSpPr>
        <p:spPr>
          <a:xfrm rot="0">
            <a:off x="14299551" y="8660242"/>
            <a:ext cx="2959749" cy="349250"/>
          </a:xfrm>
          <a:prstGeom prst="rect">
            <a:avLst/>
          </a:prstGeom>
        </p:spPr>
        <p:txBody>
          <a:bodyPr anchor="t" rtlCol="false" tIns="0" lIns="0" bIns="0" rIns="0">
            <a:spAutoFit/>
          </a:bodyPr>
          <a:lstStyle/>
          <a:p>
            <a:pPr algn="r">
              <a:lnSpc>
                <a:spcPts val="2800"/>
              </a:lnSpc>
              <a:spcBef>
                <a:spcPct val="0"/>
              </a:spcBef>
            </a:pPr>
            <a:r>
              <a:rPr lang="en-US" sz="2000" spc="600">
                <a:solidFill>
                  <a:srgbClr val="000000"/>
                </a:solidFill>
                <a:latin typeface="Inter"/>
                <a:ea typeface="Inter"/>
                <a:cs typeface="Inter"/>
                <a:sym typeface="Inter"/>
              </a:rPr>
              <a:t>PAGE 03</a:t>
            </a:r>
          </a:p>
        </p:txBody>
      </p:sp>
    </p:spTree>
  </p:cSld>
  <p:clrMapOvr>
    <a:masterClrMapping/>
  </p:clrMapOvr>
</p:sld>
</file>

<file path=ppt/slides/slide4.xml><?xml version="1.0" encoding="utf-8"?>
<p:sld xmlns:p="http://schemas.openxmlformats.org/presentationml/2006/main" xmlns:a="http://schemas.openxmlformats.org/drawingml/2006/main">
  <p:cSld>
    <p:bg>
      <p:bgPr>
        <a:solidFill>
          <a:srgbClr val="FDFDFD"/>
        </a:solidFill>
      </p:bgPr>
    </p:bg>
    <p:spTree>
      <p:nvGrpSpPr>
        <p:cNvPr id="1" name=""/>
        <p:cNvGrpSpPr/>
        <p:nvPr/>
      </p:nvGrpSpPr>
      <p:grpSpPr>
        <a:xfrm>
          <a:off x="0" y="0"/>
          <a:ext cx="0" cy="0"/>
          <a:chOff x="0" y="0"/>
          <a:chExt cx="0" cy="0"/>
        </a:xfrm>
      </p:grpSpPr>
      <p:sp>
        <p:nvSpPr>
          <p:cNvPr name="TextBox 2" id="2"/>
          <p:cNvSpPr txBox="true"/>
          <p:nvPr/>
        </p:nvSpPr>
        <p:spPr>
          <a:xfrm rot="0">
            <a:off x="6339274" y="5346657"/>
            <a:ext cx="2344695" cy="349250"/>
          </a:xfrm>
          <a:prstGeom prst="rect">
            <a:avLst/>
          </a:prstGeom>
        </p:spPr>
        <p:txBody>
          <a:bodyPr anchor="t" rtlCol="false" tIns="0" lIns="0" bIns="0" rIns="0">
            <a:spAutoFit/>
          </a:bodyPr>
          <a:lstStyle/>
          <a:p>
            <a:pPr algn="ctr">
              <a:lnSpc>
                <a:spcPts val="2800"/>
              </a:lnSpc>
              <a:spcBef>
                <a:spcPct val="0"/>
              </a:spcBef>
            </a:pPr>
            <a:r>
              <a:rPr lang="en-US" sz="2000" spc="600">
                <a:solidFill>
                  <a:srgbClr val="FFFFFF"/>
                </a:solidFill>
                <a:latin typeface="Inter"/>
                <a:ea typeface="Inter"/>
                <a:cs typeface="Inter"/>
                <a:sym typeface="Inter"/>
              </a:rPr>
              <a:t>#C6A28D</a:t>
            </a:r>
          </a:p>
        </p:txBody>
      </p:sp>
      <p:sp>
        <p:nvSpPr>
          <p:cNvPr name="TextBox 3" id="3"/>
          <p:cNvSpPr txBox="true"/>
          <p:nvPr/>
        </p:nvSpPr>
        <p:spPr>
          <a:xfrm rot="0">
            <a:off x="9607893" y="5346657"/>
            <a:ext cx="2344695" cy="349250"/>
          </a:xfrm>
          <a:prstGeom prst="rect">
            <a:avLst/>
          </a:prstGeom>
        </p:spPr>
        <p:txBody>
          <a:bodyPr anchor="t" rtlCol="false" tIns="0" lIns="0" bIns="0" rIns="0">
            <a:spAutoFit/>
          </a:bodyPr>
          <a:lstStyle/>
          <a:p>
            <a:pPr algn="ctr">
              <a:lnSpc>
                <a:spcPts val="2800"/>
              </a:lnSpc>
              <a:spcBef>
                <a:spcPct val="0"/>
              </a:spcBef>
            </a:pPr>
            <a:r>
              <a:rPr lang="en-US" sz="2000" spc="600">
                <a:solidFill>
                  <a:srgbClr val="FFFFFF"/>
                </a:solidFill>
                <a:latin typeface="Inter"/>
                <a:ea typeface="Inter"/>
                <a:cs typeface="Inter"/>
                <a:sym typeface="Inter"/>
              </a:rPr>
              <a:t>#868668</a:t>
            </a:r>
          </a:p>
        </p:txBody>
      </p:sp>
      <p:sp>
        <p:nvSpPr>
          <p:cNvPr name="TextBox 4" id="4"/>
          <p:cNvSpPr txBox="true"/>
          <p:nvPr/>
        </p:nvSpPr>
        <p:spPr>
          <a:xfrm rot="0">
            <a:off x="12876513" y="5346657"/>
            <a:ext cx="2344695" cy="349250"/>
          </a:xfrm>
          <a:prstGeom prst="rect">
            <a:avLst/>
          </a:prstGeom>
        </p:spPr>
        <p:txBody>
          <a:bodyPr anchor="t" rtlCol="false" tIns="0" lIns="0" bIns="0" rIns="0">
            <a:spAutoFit/>
          </a:bodyPr>
          <a:lstStyle/>
          <a:p>
            <a:pPr algn="ctr">
              <a:lnSpc>
                <a:spcPts val="2800"/>
              </a:lnSpc>
              <a:spcBef>
                <a:spcPct val="0"/>
              </a:spcBef>
            </a:pPr>
            <a:r>
              <a:rPr lang="en-US" sz="2000" spc="600">
                <a:solidFill>
                  <a:srgbClr val="FFFFFF"/>
                </a:solidFill>
                <a:latin typeface="Inter"/>
                <a:ea typeface="Inter"/>
                <a:cs typeface="Inter"/>
                <a:sym typeface="Inter"/>
              </a:rPr>
              <a:t>#AD6237</a:t>
            </a:r>
          </a:p>
        </p:txBody>
      </p:sp>
      <p:sp>
        <p:nvSpPr>
          <p:cNvPr name="TextBox 5" id="5"/>
          <p:cNvSpPr txBox="true"/>
          <p:nvPr/>
        </p:nvSpPr>
        <p:spPr>
          <a:xfrm rot="0">
            <a:off x="2165845" y="2186283"/>
            <a:ext cx="9454120" cy="854076"/>
          </a:xfrm>
          <a:prstGeom prst="rect">
            <a:avLst/>
          </a:prstGeom>
        </p:spPr>
        <p:txBody>
          <a:bodyPr anchor="t" rtlCol="false" tIns="0" lIns="0" bIns="0" rIns="0">
            <a:spAutoFit/>
          </a:bodyPr>
          <a:lstStyle/>
          <a:p>
            <a:pPr algn="l">
              <a:lnSpc>
                <a:spcPts val="6999"/>
              </a:lnSpc>
            </a:pPr>
            <a:r>
              <a:rPr lang="en-US" sz="4999">
                <a:solidFill>
                  <a:srgbClr val="000000"/>
                </a:solidFill>
                <a:latin typeface="TAN Twinkle"/>
                <a:ea typeface="TAN Twinkle"/>
                <a:cs typeface="TAN Twinkle"/>
                <a:sym typeface="TAN Twinkle"/>
              </a:rPr>
              <a:t>Data Preprocessing</a:t>
            </a:r>
          </a:p>
        </p:txBody>
      </p:sp>
      <p:sp>
        <p:nvSpPr>
          <p:cNvPr name="AutoShape 6" id="6"/>
          <p:cNvSpPr/>
          <p:nvPr/>
        </p:nvSpPr>
        <p:spPr>
          <a:xfrm rot="0">
            <a:off x="1028700" y="1028700"/>
            <a:ext cx="16230600" cy="0"/>
          </a:xfrm>
          <a:prstGeom prst="line">
            <a:avLst/>
          </a:prstGeom>
          <a:ln cap="flat" w="19050">
            <a:solidFill>
              <a:srgbClr val="000000"/>
            </a:solidFill>
            <a:prstDash val="solid"/>
            <a:headEnd type="none" len="sm" w="sm"/>
            <a:tailEnd type="none" len="sm" w="sm"/>
          </a:ln>
        </p:spPr>
      </p:sp>
      <p:sp>
        <p:nvSpPr>
          <p:cNvPr name="TextBox 7" id="7"/>
          <p:cNvSpPr txBox="true"/>
          <p:nvPr/>
        </p:nvSpPr>
        <p:spPr>
          <a:xfrm rot="0">
            <a:off x="14299551" y="8660242"/>
            <a:ext cx="2959749" cy="349250"/>
          </a:xfrm>
          <a:prstGeom prst="rect">
            <a:avLst/>
          </a:prstGeom>
        </p:spPr>
        <p:txBody>
          <a:bodyPr anchor="t" rtlCol="false" tIns="0" lIns="0" bIns="0" rIns="0">
            <a:spAutoFit/>
          </a:bodyPr>
          <a:lstStyle/>
          <a:p>
            <a:pPr algn="r">
              <a:lnSpc>
                <a:spcPts val="2800"/>
              </a:lnSpc>
              <a:spcBef>
                <a:spcPct val="0"/>
              </a:spcBef>
            </a:pPr>
            <a:r>
              <a:rPr lang="en-US" sz="2000" spc="600">
                <a:solidFill>
                  <a:srgbClr val="000000"/>
                </a:solidFill>
                <a:latin typeface="Inter"/>
                <a:ea typeface="Inter"/>
                <a:cs typeface="Inter"/>
                <a:sym typeface="Inter"/>
              </a:rPr>
              <a:t>PAGE 04</a:t>
            </a:r>
          </a:p>
        </p:txBody>
      </p:sp>
      <p:sp>
        <p:nvSpPr>
          <p:cNvPr name="TextBox 8" id="8"/>
          <p:cNvSpPr txBox="true"/>
          <p:nvPr/>
        </p:nvSpPr>
        <p:spPr>
          <a:xfrm rot="0">
            <a:off x="2165845" y="4140792"/>
            <a:ext cx="11232498" cy="2954655"/>
          </a:xfrm>
          <a:prstGeom prst="rect">
            <a:avLst/>
          </a:prstGeom>
        </p:spPr>
        <p:txBody>
          <a:bodyPr anchor="t" rtlCol="false" tIns="0" lIns="0" bIns="0" rIns="0">
            <a:spAutoFit/>
          </a:bodyPr>
          <a:lstStyle/>
          <a:p>
            <a:pPr algn="l" marL="712470" indent="-356235" lvl="1">
              <a:lnSpc>
                <a:spcPts val="4620"/>
              </a:lnSpc>
              <a:buFont typeface="Arial"/>
              <a:buChar char="•"/>
            </a:pPr>
            <a:r>
              <a:rPr lang="en-US" sz="3300">
                <a:solidFill>
                  <a:srgbClr val="000000"/>
                </a:solidFill>
                <a:latin typeface="Times New Roman MT"/>
                <a:ea typeface="Times New Roman MT"/>
                <a:cs typeface="Times New Roman MT"/>
                <a:sym typeface="Times New Roman MT"/>
              </a:rPr>
              <a:t>Created target variable (Pass/Fail)  </a:t>
            </a:r>
          </a:p>
          <a:p>
            <a:pPr algn="l" marL="712470" indent="-356235" lvl="1">
              <a:lnSpc>
                <a:spcPts val="4620"/>
              </a:lnSpc>
              <a:buFont typeface="Arial"/>
              <a:buChar char="•"/>
            </a:pPr>
            <a:r>
              <a:rPr lang="en-US" sz="3300">
                <a:solidFill>
                  <a:srgbClr val="000000"/>
                </a:solidFill>
                <a:latin typeface="Times New Roman MT"/>
                <a:ea typeface="Times New Roman MT"/>
                <a:cs typeface="Times New Roman MT"/>
                <a:sym typeface="Times New Roman MT"/>
              </a:rPr>
              <a:t>Removed G3 to avoid data leakage  </a:t>
            </a:r>
          </a:p>
          <a:p>
            <a:pPr algn="l" marL="712470" indent="-356235" lvl="1">
              <a:lnSpc>
                <a:spcPts val="4620"/>
              </a:lnSpc>
              <a:buFont typeface="Arial"/>
              <a:buChar char="•"/>
            </a:pPr>
            <a:r>
              <a:rPr lang="en-US" sz="3300">
                <a:solidFill>
                  <a:srgbClr val="000000"/>
                </a:solidFill>
                <a:latin typeface="Times New Roman MT"/>
                <a:ea typeface="Times New Roman MT"/>
                <a:cs typeface="Times New Roman MT"/>
                <a:sym typeface="Times New Roman MT"/>
              </a:rPr>
              <a:t>Encoded categorical features  </a:t>
            </a:r>
          </a:p>
          <a:p>
            <a:pPr algn="l" marL="712470" indent="-356235" lvl="1">
              <a:lnSpc>
                <a:spcPts val="4620"/>
              </a:lnSpc>
              <a:buFont typeface="Arial"/>
              <a:buChar char="•"/>
            </a:pPr>
            <a:r>
              <a:rPr lang="en-US" sz="3300">
                <a:solidFill>
                  <a:srgbClr val="000000"/>
                </a:solidFill>
                <a:latin typeface="Times New Roman MT"/>
                <a:ea typeface="Times New Roman MT"/>
                <a:cs typeface="Times New Roman MT"/>
                <a:sym typeface="Times New Roman MT"/>
              </a:rPr>
              <a:t>Performed train-test split  </a:t>
            </a:r>
          </a:p>
          <a:p>
            <a:pPr algn="l" marL="712470" indent="-356235" lvl="1">
              <a:lnSpc>
                <a:spcPts val="4620"/>
              </a:lnSpc>
              <a:buFont typeface="Arial"/>
              <a:buChar char="•"/>
            </a:pPr>
            <a:r>
              <a:rPr lang="en-US" sz="3300">
                <a:solidFill>
                  <a:srgbClr val="000000"/>
                </a:solidFill>
                <a:latin typeface="Times New Roman MT"/>
                <a:ea typeface="Times New Roman MT"/>
                <a:cs typeface="Times New Roman MT"/>
                <a:sym typeface="Times New Roman MT"/>
              </a:rPr>
              <a:t>Applied feature scaling</a:t>
            </a:r>
          </a:p>
        </p:txBody>
      </p:sp>
      <p:grpSp>
        <p:nvGrpSpPr>
          <p:cNvPr name="Group 9" id="9"/>
          <p:cNvGrpSpPr/>
          <p:nvPr/>
        </p:nvGrpSpPr>
        <p:grpSpPr>
          <a:xfrm rot="0">
            <a:off x="-514350" y="7752672"/>
            <a:ext cx="3086100" cy="3086100"/>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4EFED">
                <a:alpha val="30980"/>
              </a:srgbClr>
            </a:solidFill>
          </p:spPr>
        </p:sp>
        <p:sp>
          <p:nvSpPr>
            <p:cNvPr name="TextBox 11" id="11"/>
            <p:cNvSpPr txBox="true"/>
            <p:nvPr/>
          </p:nvSpPr>
          <p:spPr>
            <a:xfrm>
              <a:off x="76200" y="38100"/>
              <a:ext cx="660400" cy="698500"/>
            </a:xfrm>
            <a:prstGeom prst="rect">
              <a:avLst/>
            </a:prstGeom>
          </p:spPr>
          <p:txBody>
            <a:bodyPr anchor="ctr" rtlCol="false" tIns="50800" lIns="50800" bIns="50800" rIns="50800"/>
            <a:lstStyle/>
            <a:p>
              <a:pPr algn="ctr">
                <a:lnSpc>
                  <a:spcPts val="2800"/>
                </a:lnSpc>
              </a:pPr>
            </a:p>
          </p:txBody>
        </p:sp>
      </p:grpSp>
      <p:sp>
        <p:nvSpPr>
          <p:cNvPr name="AutoShape 12" id="12"/>
          <p:cNvSpPr/>
          <p:nvPr/>
        </p:nvSpPr>
        <p:spPr>
          <a:xfrm rot="0">
            <a:off x="1028700" y="9239250"/>
            <a:ext cx="16230600" cy="0"/>
          </a:xfrm>
          <a:prstGeom prst="line">
            <a:avLst/>
          </a:prstGeom>
          <a:ln cap="flat" w="19050">
            <a:solidFill>
              <a:srgbClr val="000000"/>
            </a:solidFill>
            <a:prstDash val="solid"/>
            <a:headEnd type="none" len="sm" w="sm"/>
            <a:tailEnd type="none" len="sm" w="sm"/>
          </a:ln>
        </p:spPr>
      </p:sp>
      <p:grpSp>
        <p:nvGrpSpPr>
          <p:cNvPr name="Group 13" id="13"/>
          <p:cNvGrpSpPr/>
          <p:nvPr/>
        </p:nvGrpSpPr>
        <p:grpSpPr>
          <a:xfrm rot="0">
            <a:off x="15716250" y="-514350"/>
            <a:ext cx="3086100" cy="3086100"/>
            <a:chOff x="0" y="0"/>
            <a:chExt cx="812800" cy="812800"/>
          </a:xfrm>
        </p:grpSpPr>
        <p:sp>
          <p:nvSpPr>
            <p:cNvPr name="Freeform 14" id="1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4EFED">
                <a:alpha val="40000"/>
              </a:srgbClr>
            </a:solidFill>
          </p:spPr>
        </p:sp>
        <p:sp>
          <p:nvSpPr>
            <p:cNvPr name="TextBox 15" id="15"/>
            <p:cNvSpPr txBox="true"/>
            <p:nvPr/>
          </p:nvSpPr>
          <p:spPr>
            <a:xfrm>
              <a:off x="76200" y="38100"/>
              <a:ext cx="660400" cy="698500"/>
            </a:xfrm>
            <a:prstGeom prst="rect">
              <a:avLst/>
            </a:prstGeom>
          </p:spPr>
          <p:txBody>
            <a:bodyPr anchor="ctr" rtlCol="false" tIns="50800" lIns="50800" bIns="50800" rIns="50800"/>
            <a:lstStyle/>
            <a:p>
              <a:pPr algn="ctr">
                <a:lnSpc>
                  <a:spcPts val="2800"/>
                </a:lnSpc>
              </a:pP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DFDFD"/>
        </a:solidFill>
      </p:bgPr>
    </p:bg>
    <p:spTree>
      <p:nvGrpSpPr>
        <p:cNvPr id="1" name=""/>
        <p:cNvGrpSpPr/>
        <p:nvPr/>
      </p:nvGrpSpPr>
      <p:grpSpPr>
        <a:xfrm>
          <a:off x="0" y="0"/>
          <a:ext cx="0" cy="0"/>
          <a:chOff x="0" y="0"/>
          <a:chExt cx="0" cy="0"/>
        </a:xfrm>
      </p:grpSpPr>
      <p:sp>
        <p:nvSpPr>
          <p:cNvPr name="AutoShape 2" id="2"/>
          <p:cNvSpPr/>
          <p:nvPr/>
        </p:nvSpPr>
        <p:spPr>
          <a:xfrm rot="0">
            <a:off x="1028700" y="9239250"/>
            <a:ext cx="16230600" cy="0"/>
          </a:xfrm>
          <a:prstGeom prst="line">
            <a:avLst/>
          </a:prstGeom>
          <a:ln cap="flat" w="19050">
            <a:solidFill>
              <a:srgbClr val="000000"/>
            </a:solidFill>
            <a:prstDash val="solid"/>
            <a:headEnd type="none" len="sm" w="sm"/>
            <a:tailEnd type="none" len="sm" w="sm"/>
          </a:ln>
        </p:spPr>
      </p:sp>
      <p:sp>
        <p:nvSpPr>
          <p:cNvPr name="AutoShape 3" id="3"/>
          <p:cNvSpPr/>
          <p:nvPr/>
        </p:nvSpPr>
        <p:spPr>
          <a:xfrm rot="0">
            <a:off x="1028700" y="1028700"/>
            <a:ext cx="16230600" cy="0"/>
          </a:xfrm>
          <a:prstGeom prst="line">
            <a:avLst/>
          </a:prstGeom>
          <a:ln cap="flat" w="19050">
            <a:solidFill>
              <a:srgbClr val="000000"/>
            </a:solidFill>
            <a:prstDash val="solid"/>
            <a:headEnd type="none" len="sm" w="sm"/>
            <a:tailEnd type="none" len="sm" w="sm"/>
          </a:ln>
        </p:spPr>
      </p:sp>
      <p:grpSp>
        <p:nvGrpSpPr>
          <p:cNvPr name="Group 4" id="4"/>
          <p:cNvGrpSpPr/>
          <p:nvPr/>
        </p:nvGrpSpPr>
        <p:grpSpPr>
          <a:xfrm rot="0">
            <a:off x="-514350" y="7752672"/>
            <a:ext cx="3086100" cy="3086100"/>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4EFED">
                <a:alpha val="30980"/>
              </a:srgbClr>
            </a:solidFill>
          </p:spPr>
        </p:sp>
        <p:sp>
          <p:nvSpPr>
            <p:cNvPr name="TextBox 6" id="6"/>
            <p:cNvSpPr txBox="true"/>
            <p:nvPr/>
          </p:nvSpPr>
          <p:spPr>
            <a:xfrm>
              <a:off x="76200" y="38100"/>
              <a:ext cx="660400" cy="698500"/>
            </a:xfrm>
            <a:prstGeom prst="rect">
              <a:avLst/>
            </a:prstGeom>
          </p:spPr>
          <p:txBody>
            <a:bodyPr anchor="ctr" rtlCol="false" tIns="50800" lIns="50800" bIns="50800" rIns="50800"/>
            <a:lstStyle/>
            <a:p>
              <a:pPr algn="ctr">
                <a:lnSpc>
                  <a:spcPts val="2800"/>
                </a:lnSpc>
              </a:pPr>
            </a:p>
          </p:txBody>
        </p:sp>
      </p:grpSp>
      <p:sp>
        <p:nvSpPr>
          <p:cNvPr name="Freeform 7" id="7"/>
          <p:cNvSpPr/>
          <p:nvPr/>
        </p:nvSpPr>
        <p:spPr>
          <a:xfrm flipH="false" flipV="false" rot="0">
            <a:off x="11024273" y="2845008"/>
            <a:ext cx="5991916" cy="5634258"/>
          </a:xfrm>
          <a:custGeom>
            <a:avLst/>
            <a:gdLst/>
            <a:ahLst/>
            <a:cxnLst/>
            <a:rect r="r" b="b" t="t" l="l"/>
            <a:pathLst>
              <a:path h="5634258" w="5991916">
                <a:moveTo>
                  <a:pt x="0" y="0"/>
                </a:moveTo>
                <a:lnTo>
                  <a:pt x="5991916" y="0"/>
                </a:lnTo>
                <a:lnTo>
                  <a:pt x="5991916" y="5634259"/>
                </a:lnTo>
                <a:lnTo>
                  <a:pt x="0" y="5634259"/>
                </a:lnTo>
                <a:lnTo>
                  <a:pt x="0" y="0"/>
                </a:lnTo>
                <a:close/>
              </a:path>
            </a:pathLst>
          </a:custGeom>
          <a:blipFill>
            <a:blip r:embed="rId3"/>
            <a:stretch>
              <a:fillRect l="-100533" t="0" r="-533" b="0"/>
            </a:stretch>
          </a:blipFill>
        </p:spPr>
      </p:sp>
      <p:sp>
        <p:nvSpPr>
          <p:cNvPr name="TextBox 8" id="8"/>
          <p:cNvSpPr txBox="true"/>
          <p:nvPr/>
        </p:nvSpPr>
        <p:spPr>
          <a:xfrm rot="0">
            <a:off x="9607893" y="5346657"/>
            <a:ext cx="2344695" cy="349250"/>
          </a:xfrm>
          <a:prstGeom prst="rect">
            <a:avLst/>
          </a:prstGeom>
        </p:spPr>
        <p:txBody>
          <a:bodyPr anchor="t" rtlCol="false" tIns="0" lIns="0" bIns="0" rIns="0">
            <a:spAutoFit/>
          </a:bodyPr>
          <a:lstStyle/>
          <a:p>
            <a:pPr algn="ctr">
              <a:lnSpc>
                <a:spcPts val="2800"/>
              </a:lnSpc>
              <a:spcBef>
                <a:spcPct val="0"/>
              </a:spcBef>
            </a:pPr>
            <a:r>
              <a:rPr lang="en-US" sz="2000" spc="600">
                <a:solidFill>
                  <a:srgbClr val="FFFFFF"/>
                </a:solidFill>
                <a:latin typeface="Inter"/>
                <a:ea typeface="Inter"/>
                <a:cs typeface="Inter"/>
                <a:sym typeface="Inter"/>
              </a:rPr>
              <a:t>#868668</a:t>
            </a:r>
          </a:p>
        </p:txBody>
      </p:sp>
      <p:sp>
        <p:nvSpPr>
          <p:cNvPr name="TextBox 9" id="9"/>
          <p:cNvSpPr txBox="true"/>
          <p:nvPr/>
        </p:nvSpPr>
        <p:spPr>
          <a:xfrm rot="0">
            <a:off x="632437" y="1756410"/>
            <a:ext cx="12142800" cy="854076"/>
          </a:xfrm>
          <a:prstGeom prst="rect">
            <a:avLst/>
          </a:prstGeom>
        </p:spPr>
        <p:txBody>
          <a:bodyPr anchor="t" rtlCol="false" tIns="0" lIns="0" bIns="0" rIns="0">
            <a:spAutoFit/>
          </a:bodyPr>
          <a:lstStyle/>
          <a:p>
            <a:pPr algn="l">
              <a:lnSpc>
                <a:spcPts val="6999"/>
              </a:lnSpc>
            </a:pPr>
            <a:r>
              <a:rPr lang="en-US" sz="4999">
                <a:solidFill>
                  <a:srgbClr val="000000"/>
                </a:solidFill>
                <a:latin typeface="TAN Twinkle"/>
                <a:ea typeface="TAN Twinkle"/>
                <a:cs typeface="TAN Twinkle"/>
                <a:sym typeface="TAN Twinkle"/>
              </a:rPr>
              <a:t>Exploratory Data Analysis</a:t>
            </a:r>
          </a:p>
        </p:txBody>
      </p:sp>
      <p:sp>
        <p:nvSpPr>
          <p:cNvPr name="TextBox 10" id="10"/>
          <p:cNvSpPr txBox="true"/>
          <p:nvPr/>
        </p:nvSpPr>
        <p:spPr>
          <a:xfrm rot="0">
            <a:off x="14299551" y="8660242"/>
            <a:ext cx="2959749" cy="349250"/>
          </a:xfrm>
          <a:prstGeom prst="rect">
            <a:avLst/>
          </a:prstGeom>
        </p:spPr>
        <p:txBody>
          <a:bodyPr anchor="t" rtlCol="false" tIns="0" lIns="0" bIns="0" rIns="0">
            <a:spAutoFit/>
          </a:bodyPr>
          <a:lstStyle/>
          <a:p>
            <a:pPr algn="r">
              <a:lnSpc>
                <a:spcPts val="2800"/>
              </a:lnSpc>
              <a:spcBef>
                <a:spcPct val="0"/>
              </a:spcBef>
            </a:pPr>
            <a:r>
              <a:rPr lang="en-US" sz="2000" spc="600">
                <a:solidFill>
                  <a:srgbClr val="000000"/>
                </a:solidFill>
                <a:latin typeface="Inter"/>
                <a:ea typeface="Inter"/>
                <a:cs typeface="Inter"/>
                <a:sym typeface="Inter"/>
              </a:rPr>
              <a:t>PAGE 05</a:t>
            </a:r>
          </a:p>
        </p:txBody>
      </p:sp>
      <p:sp>
        <p:nvSpPr>
          <p:cNvPr name="TextBox 11" id="11"/>
          <p:cNvSpPr txBox="true"/>
          <p:nvPr/>
        </p:nvSpPr>
        <p:spPr>
          <a:xfrm rot="0">
            <a:off x="632437" y="3617869"/>
            <a:ext cx="12142800" cy="3521076"/>
          </a:xfrm>
          <a:prstGeom prst="rect">
            <a:avLst/>
          </a:prstGeom>
        </p:spPr>
        <p:txBody>
          <a:bodyPr anchor="t" rtlCol="false" tIns="0" lIns="0" bIns="0" rIns="0">
            <a:spAutoFit/>
          </a:bodyPr>
          <a:lstStyle/>
          <a:p>
            <a:pPr algn="l" marL="755649" indent="-377824" lvl="1">
              <a:lnSpc>
                <a:spcPts val="6999"/>
              </a:lnSpc>
              <a:buFont typeface="Arial"/>
              <a:buChar char="•"/>
            </a:pPr>
            <a:r>
              <a:rPr lang="en-US" sz="3499">
                <a:solidFill>
                  <a:srgbClr val="000000"/>
                </a:solidFill>
                <a:latin typeface="Times New Roman MT"/>
                <a:ea typeface="Times New Roman MT"/>
                <a:cs typeface="Times New Roman MT"/>
                <a:sym typeface="Times New Roman MT"/>
              </a:rPr>
              <a:t>Study time positively affects performance</a:t>
            </a:r>
          </a:p>
          <a:p>
            <a:pPr algn="l" marL="755649" indent="-377824" lvl="1">
              <a:lnSpc>
                <a:spcPts val="6999"/>
              </a:lnSpc>
              <a:buFont typeface="Arial"/>
              <a:buChar char="•"/>
            </a:pPr>
            <a:r>
              <a:rPr lang="en-US" sz="3499">
                <a:solidFill>
                  <a:srgbClr val="000000"/>
                </a:solidFill>
                <a:latin typeface="Times New Roman MT"/>
                <a:ea typeface="Times New Roman MT"/>
                <a:cs typeface="Times New Roman MT"/>
                <a:sym typeface="Times New Roman MT"/>
              </a:rPr>
              <a:t>Higher study time increases pass rate</a:t>
            </a:r>
          </a:p>
          <a:p>
            <a:pPr algn="l" marL="755649" indent="-377824" lvl="1">
              <a:lnSpc>
                <a:spcPts val="6999"/>
              </a:lnSpc>
              <a:buFont typeface="Arial"/>
              <a:buChar char="•"/>
            </a:pPr>
            <a:r>
              <a:rPr lang="en-US" sz="3499">
                <a:solidFill>
                  <a:srgbClr val="000000"/>
                </a:solidFill>
                <a:latin typeface="Times New Roman MT"/>
                <a:ea typeface="Times New Roman MT"/>
                <a:cs typeface="Times New Roman MT"/>
                <a:sym typeface="Times New Roman MT"/>
              </a:rPr>
              <a:t>Failures increase risk of failing</a:t>
            </a:r>
          </a:p>
          <a:p>
            <a:pPr algn="l" marL="755649" indent="-377824" lvl="1">
              <a:lnSpc>
                <a:spcPts val="6999"/>
              </a:lnSpc>
              <a:buFont typeface="Arial"/>
              <a:buChar char="•"/>
            </a:pPr>
            <a:r>
              <a:rPr lang="en-US" sz="3499">
                <a:solidFill>
                  <a:srgbClr val="000000"/>
                </a:solidFill>
                <a:latin typeface="Times New Roman MT"/>
                <a:ea typeface="Times New Roman MT"/>
                <a:cs typeface="Times New Roman MT"/>
                <a:sym typeface="Times New Roman MT"/>
              </a:rPr>
              <a:t>Absences negatively impact outcomes  </a:t>
            </a:r>
          </a:p>
        </p:txBody>
      </p:sp>
    </p:spTree>
  </p:cSld>
  <p:clrMapOvr>
    <a:masterClrMapping/>
  </p:clrMapOvr>
</p:sld>
</file>

<file path=ppt/slides/slide6.xml><?xml version="1.0" encoding="utf-8"?>
<p:sld xmlns:p="http://schemas.openxmlformats.org/presentationml/2006/main" xmlns:a="http://schemas.openxmlformats.org/drawingml/2006/main">
  <p:cSld>
    <p:bg>
      <p:bgPr>
        <a:solidFill>
          <a:srgbClr val="FDFDFD"/>
        </a:solidFill>
      </p:bgPr>
    </p:bg>
    <p:spTree>
      <p:nvGrpSpPr>
        <p:cNvPr id="1" name=""/>
        <p:cNvGrpSpPr/>
        <p:nvPr/>
      </p:nvGrpSpPr>
      <p:grpSpPr>
        <a:xfrm>
          <a:off x="0" y="0"/>
          <a:ext cx="0" cy="0"/>
          <a:chOff x="0" y="0"/>
          <a:chExt cx="0" cy="0"/>
        </a:xfrm>
      </p:grpSpPr>
      <p:sp>
        <p:nvSpPr>
          <p:cNvPr name="AutoShape 2" id="2"/>
          <p:cNvSpPr/>
          <p:nvPr/>
        </p:nvSpPr>
        <p:spPr>
          <a:xfrm rot="0">
            <a:off x="1028700" y="9239250"/>
            <a:ext cx="16230600" cy="0"/>
          </a:xfrm>
          <a:prstGeom prst="line">
            <a:avLst/>
          </a:prstGeom>
          <a:ln cap="flat" w="19050">
            <a:solidFill>
              <a:srgbClr val="000000"/>
            </a:solidFill>
            <a:prstDash val="solid"/>
            <a:headEnd type="none" len="sm" w="sm"/>
            <a:tailEnd type="none" len="sm" w="sm"/>
          </a:ln>
        </p:spPr>
      </p:sp>
      <p:sp>
        <p:nvSpPr>
          <p:cNvPr name="TextBox 3" id="3"/>
          <p:cNvSpPr txBox="true"/>
          <p:nvPr/>
        </p:nvSpPr>
        <p:spPr>
          <a:xfrm rot="0">
            <a:off x="14299551" y="8660242"/>
            <a:ext cx="2959749" cy="349250"/>
          </a:xfrm>
          <a:prstGeom prst="rect">
            <a:avLst/>
          </a:prstGeom>
        </p:spPr>
        <p:txBody>
          <a:bodyPr anchor="t" rtlCol="false" tIns="0" lIns="0" bIns="0" rIns="0">
            <a:spAutoFit/>
          </a:bodyPr>
          <a:lstStyle/>
          <a:p>
            <a:pPr algn="r">
              <a:lnSpc>
                <a:spcPts val="2800"/>
              </a:lnSpc>
              <a:spcBef>
                <a:spcPct val="0"/>
              </a:spcBef>
            </a:pPr>
            <a:r>
              <a:rPr lang="en-US" sz="2000" spc="600">
                <a:solidFill>
                  <a:srgbClr val="000000"/>
                </a:solidFill>
                <a:latin typeface="Inter"/>
                <a:ea typeface="Inter"/>
                <a:cs typeface="Inter"/>
                <a:sym typeface="Inter"/>
              </a:rPr>
              <a:t>PAGE 06</a:t>
            </a:r>
          </a:p>
        </p:txBody>
      </p:sp>
      <p:grpSp>
        <p:nvGrpSpPr>
          <p:cNvPr name="Group 4" id="4"/>
          <p:cNvGrpSpPr/>
          <p:nvPr/>
        </p:nvGrpSpPr>
        <p:grpSpPr>
          <a:xfrm rot="0">
            <a:off x="345445" y="1028700"/>
            <a:ext cx="3232715" cy="3232715"/>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4EFED">
                <a:alpha val="60784"/>
              </a:srgbClr>
            </a:solidFill>
          </p:spPr>
        </p:sp>
        <p:sp>
          <p:nvSpPr>
            <p:cNvPr name="TextBox 6" id="6"/>
            <p:cNvSpPr txBox="true"/>
            <p:nvPr/>
          </p:nvSpPr>
          <p:spPr>
            <a:xfrm>
              <a:off x="76200" y="38100"/>
              <a:ext cx="660400" cy="698500"/>
            </a:xfrm>
            <a:prstGeom prst="rect">
              <a:avLst/>
            </a:prstGeom>
          </p:spPr>
          <p:txBody>
            <a:bodyPr anchor="ctr" rtlCol="false" tIns="50800" lIns="50800" bIns="50800" rIns="50800"/>
            <a:lstStyle/>
            <a:p>
              <a:pPr algn="ctr">
                <a:lnSpc>
                  <a:spcPts val="2800"/>
                </a:lnSpc>
              </a:pPr>
            </a:p>
          </p:txBody>
        </p:sp>
      </p:grpSp>
      <p:sp>
        <p:nvSpPr>
          <p:cNvPr name="TextBox 7" id="7"/>
          <p:cNvSpPr txBox="true"/>
          <p:nvPr/>
        </p:nvSpPr>
        <p:spPr>
          <a:xfrm rot="0">
            <a:off x="1961803" y="2160870"/>
            <a:ext cx="9506980" cy="936625"/>
          </a:xfrm>
          <a:prstGeom prst="rect">
            <a:avLst/>
          </a:prstGeom>
        </p:spPr>
        <p:txBody>
          <a:bodyPr anchor="t" rtlCol="false" tIns="0" lIns="0" bIns="0" rIns="0">
            <a:spAutoFit/>
          </a:bodyPr>
          <a:lstStyle/>
          <a:p>
            <a:pPr algn="l">
              <a:lnSpc>
                <a:spcPts val="7699"/>
              </a:lnSpc>
            </a:pPr>
            <a:r>
              <a:rPr lang="en-US" sz="5499">
                <a:solidFill>
                  <a:srgbClr val="000000"/>
                </a:solidFill>
                <a:latin typeface="TAN Twinkle"/>
                <a:ea typeface="TAN Twinkle"/>
                <a:cs typeface="TAN Twinkle"/>
                <a:sym typeface="TAN Twinkle"/>
              </a:rPr>
              <a:t>Models</a:t>
            </a:r>
          </a:p>
        </p:txBody>
      </p:sp>
      <p:sp>
        <p:nvSpPr>
          <p:cNvPr name="AutoShape 8" id="8"/>
          <p:cNvSpPr/>
          <p:nvPr/>
        </p:nvSpPr>
        <p:spPr>
          <a:xfrm>
            <a:off x="1028700" y="1141375"/>
            <a:ext cx="16230600" cy="0"/>
          </a:xfrm>
          <a:prstGeom prst="line">
            <a:avLst/>
          </a:prstGeom>
          <a:ln cap="flat" w="19050">
            <a:solidFill>
              <a:srgbClr val="000000"/>
            </a:solidFill>
            <a:prstDash val="solid"/>
            <a:headEnd type="none" len="sm" w="sm"/>
            <a:tailEnd type="none" len="sm" w="sm"/>
          </a:ln>
        </p:spPr>
      </p:sp>
      <p:sp>
        <p:nvSpPr>
          <p:cNvPr name="TextBox 9" id="9"/>
          <p:cNvSpPr txBox="true"/>
          <p:nvPr/>
        </p:nvSpPr>
        <p:spPr>
          <a:xfrm rot="0">
            <a:off x="2603473" y="3871208"/>
            <a:ext cx="4441551" cy="647065"/>
          </a:xfrm>
          <a:prstGeom prst="rect">
            <a:avLst/>
          </a:prstGeom>
        </p:spPr>
        <p:txBody>
          <a:bodyPr anchor="t" rtlCol="false" tIns="0" lIns="0" bIns="0" rIns="0">
            <a:spAutoFit/>
          </a:bodyPr>
          <a:lstStyle/>
          <a:p>
            <a:pPr algn="l">
              <a:lnSpc>
                <a:spcPts val="4759"/>
              </a:lnSpc>
            </a:pPr>
            <a:r>
              <a:rPr lang="en-US" sz="3399">
                <a:solidFill>
                  <a:srgbClr val="000000"/>
                </a:solidFill>
                <a:latin typeface="Times New Roman MT"/>
                <a:ea typeface="Times New Roman MT"/>
                <a:cs typeface="Times New Roman MT"/>
                <a:sym typeface="Times New Roman MT"/>
              </a:rPr>
              <a:t>Mo</a:t>
            </a:r>
            <a:r>
              <a:rPr lang="en-US" sz="3399">
                <a:solidFill>
                  <a:srgbClr val="000000"/>
                </a:solidFill>
                <a:latin typeface="Times New Roman MT"/>
                <a:ea typeface="Times New Roman MT"/>
                <a:cs typeface="Times New Roman MT"/>
                <a:sym typeface="Times New Roman MT"/>
              </a:rPr>
              <a:t>dels Used:</a:t>
            </a:r>
          </a:p>
        </p:txBody>
      </p:sp>
      <p:sp>
        <p:nvSpPr>
          <p:cNvPr name="TextBox 10" id="10"/>
          <p:cNvSpPr txBox="true"/>
          <p:nvPr/>
        </p:nvSpPr>
        <p:spPr>
          <a:xfrm rot="0">
            <a:off x="3079962" y="4570969"/>
            <a:ext cx="7270661" cy="2297049"/>
          </a:xfrm>
          <a:prstGeom prst="rect">
            <a:avLst/>
          </a:prstGeom>
        </p:spPr>
        <p:txBody>
          <a:bodyPr anchor="t" rtlCol="false" tIns="0" lIns="0" bIns="0" rIns="0">
            <a:spAutoFit/>
          </a:bodyPr>
          <a:lstStyle/>
          <a:p>
            <a:pPr algn="just" marL="734059" indent="-367030" lvl="1">
              <a:lnSpc>
                <a:spcPts val="6017"/>
              </a:lnSpc>
              <a:buFont typeface="Arial"/>
              <a:buChar char="•"/>
            </a:pPr>
            <a:r>
              <a:rPr lang="en-US" sz="3399">
                <a:solidFill>
                  <a:srgbClr val="000000"/>
                </a:solidFill>
                <a:latin typeface="Times New Roman MT"/>
                <a:ea typeface="Times New Roman MT"/>
                <a:cs typeface="Times New Roman MT"/>
                <a:sym typeface="Times New Roman MT"/>
              </a:rPr>
              <a:t>Log</a:t>
            </a:r>
            <a:r>
              <a:rPr lang="en-US" sz="3399">
                <a:solidFill>
                  <a:srgbClr val="000000"/>
                </a:solidFill>
                <a:latin typeface="Times New Roman MT"/>
                <a:ea typeface="Times New Roman MT"/>
                <a:cs typeface="Times New Roman MT"/>
                <a:sym typeface="Times New Roman MT"/>
              </a:rPr>
              <a:t>istic Regression </a:t>
            </a:r>
          </a:p>
          <a:p>
            <a:pPr algn="just" marL="734059" indent="-367030" lvl="1">
              <a:lnSpc>
                <a:spcPts val="6017"/>
              </a:lnSpc>
              <a:buFont typeface="Arial"/>
              <a:buChar char="•"/>
            </a:pPr>
            <a:r>
              <a:rPr lang="en-US" sz="3399">
                <a:solidFill>
                  <a:srgbClr val="000000"/>
                </a:solidFill>
                <a:latin typeface="Times New Roman MT"/>
                <a:ea typeface="Times New Roman MT"/>
                <a:cs typeface="Times New Roman MT"/>
                <a:sym typeface="Times New Roman MT"/>
              </a:rPr>
              <a:t>Decision Tree </a:t>
            </a:r>
          </a:p>
          <a:p>
            <a:pPr algn="just" marL="734059" indent="-367030" lvl="1">
              <a:lnSpc>
                <a:spcPts val="6017"/>
              </a:lnSpc>
              <a:buFont typeface="Arial"/>
              <a:buChar char="•"/>
            </a:pPr>
            <a:r>
              <a:rPr lang="en-US" sz="3399">
                <a:solidFill>
                  <a:srgbClr val="000000"/>
                </a:solidFill>
                <a:latin typeface="Times New Roman MT"/>
                <a:ea typeface="Times New Roman MT"/>
                <a:cs typeface="Times New Roman MT"/>
                <a:sym typeface="Times New Roman MT"/>
              </a:rPr>
              <a:t>Random Forest</a:t>
            </a:r>
          </a:p>
        </p:txBody>
      </p:sp>
      <p:sp>
        <p:nvSpPr>
          <p:cNvPr name="TextBox 11" id="11"/>
          <p:cNvSpPr txBox="true"/>
          <p:nvPr/>
        </p:nvSpPr>
        <p:spPr>
          <a:xfrm rot="0">
            <a:off x="2031625" y="7296643"/>
            <a:ext cx="10026797" cy="1247140"/>
          </a:xfrm>
          <a:prstGeom prst="rect">
            <a:avLst/>
          </a:prstGeom>
        </p:spPr>
        <p:txBody>
          <a:bodyPr anchor="t" rtlCol="false" tIns="0" lIns="0" bIns="0" rIns="0">
            <a:spAutoFit/>
          </a:bodyPr>
          <a:lstStyle/>
          <a:p>
            <a:pPr algn="l" marL="734059" indent="-367030" lvl="1">
              <a:lnSpc>
                <a:spcPts val="4759"/>
              </a:lnSpc>
              <a:buFont typeface="Arial"/>
              <a:buChar char="•"/>
            </a:pPr>
            <a:r>
              <a:rPr lang="en-US" sz="3399">
                <a:solidFill>
                  <a:srgbClr val="000000"/>
                </a:solidFill>
                <a:latin typeface="Times New Roman MT"/>
                <a:ea typeface="Times New Roman MT"/>
                <a:cs typeface="Times New Roman MT"/>
                <a:sym typeface="Times New Roman MT"/>
              </a:rPr>
              <a:t>B</a:t>
            </a:r>
            <a:r>
              <a:rPr lang="en-US" sz="3399">
                <a:solidFill>
                  <a:srgbClr val="000000"/>
                </a:solidFill>
                <a:latin typeface="Times New Roman MT"/>
                <a:ea typeface="Times New Roman MT"/>
                <a:cs typeface="Times New Roman MT"/>
                <a:sym typeface="Times New Roman MT"/>
              </a:rPr>
              <a:t>est Model: Random Forest </a:t>
            </a:r>
          </a:p>
          <a:p>
            <a:pPr algn="l">
              <a:lnSpc>
                <a:spcPts val="4759"/>
              </a:lnSpc>
            </a:pPr>
            <a:r>
              <a:rPr lang="en-US" sz="3399">
                <a:solidFill>
                  <a:srgbClr val="000000"/>
                </a:solidFill>
                <a:latin typeface="Times New Roman MT"/>
                <a:ea typeface="Times New Roman MT"/>
                <a:cs typeface="Times New Roman MT"/>
                <a:sym typeface="Times New Roman MT"/>
              </a:rPr>
              <a:t>        Accuracy: 0.91</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DFDFD"/>
        </a:solidFill>
      </p:bgPr>
    </p:bg>
    <p:spTree>
      <p:nvGrpSpPr>
        <p:cNvPr id="1" name=""/>
        <p:cNvGrpSpPr/>
        <p:nvPr/>
      </p:nvGrpSpPr>
      <p:grpSpPr>
        <a:xfrm>
          <a:off x="0" y="0"/>
          <a:ext cx="0" cy="0"/>
          <a:chOff x="0" y="0"/>
          <a:chExt cx="0" cy="0"/>
        </a:xfrm>
      </p:grpSpPr>
      <p:sp>
        <p:nvSpPr>
          <p:cNvPr name="AutoShape 2" id="2"/>
          <p:cNvSpPr/>
          <p:nvPr/>
        </p:nvSpPr>
        <p:spPr>
          <a:xfrm rot="0">
            <a:off x="1028700" y="9239250"/>
            <a:ext cx="16230600" cy="0"/>
          </a:xfrm>
          <a:prstGeom prst="line">
            <a:avLst/>
          </a:prstGeom>
          <a:ln cap="flat" w="19050">
            <a:solidFill>
              <a:srgbClr val="000000"/>
            </a:solidFill>
            <a:prstDash val="solid"/>
            <a:headEnd type="none" len="sm" w="sm"/>
            <a:tailEnd type="none" len="sm" w="sm"/>
          </a:ln>
        </p:spPr>
      </p:sp>
      <p:sp>
        <p:nvSpPr>
          <p:cNvPr name="AutoShape 3" id="3"/>
          <p:cNvSpPr/>
          <p:nvPr/>
        </p:nvSpPr>
        <p:spPr>
          <a:xfrm rot="0">
            <a:off x="1028700" y="1028700"/>
            <a:ext cx="16230600" cy="0"/>
          </a:xfrm>
          <a:prstGeom prst="line">
            <a:avLst/>
          </a:prstGeom>
          <a:ln cap="flat" w="19050">
            <a:solidFill>
              <a:srgbClr val="000000"/>
            </a:solidFill>
            <a:prstDash val="solid"/>
            <a:headEnd type="none" len="sm" w="sm"/>
            <a:tailEnd type="none" len="sm" w="sm"/>
          </a:ln>
        </p:spPr>
      </p:sp>
      <p:grpSp>
        <p:nvGrpSpPr>
          <p:cNvPr name="Group 4" id="4"/>
          <p:cNvGrpSpPr/>
          <p:nvPr/>
        </p:nvGrpSpPr>
        <p:grpSpPr>
          <a:xfrm rot="0">
            <a:off x="1028700" y="1261921"/>
            <a:ext cx="3086100" cy="3086100"/>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4EFED"/>
            </a:solidFill>
          </p:spPr>
        </p:sp>
        <p:sp>
          <p:nvSpPr>
            <p:cNvPr name="TextBox 6" id="6"/>
            <p:cNvSpPr txBox="true"/>
            <p:nvPr/>
          </p:nvSpPr>
          <p:spPr>
            <a:xfrm>
              <a:off x="76200" y="38100"/>
              <a:ext cx="660400" cy="698500"/>
            </a:xfrm>
            <a:prstGeom prst="rect">
              <a:avLst/>
            </a:prstGeom>
          </p:spPr>
          <p:txBody>
            <a:bodyPr anchor="ctr" rtlCol="false" tIns="50800" lIns="50800" bIns="50800" rIns="50800"/>
            <a:lstStyle/>
            <a:p>
              <a:pPr algn="ctr">
                <a:lnSpc>
                  <a:spcPts val="2800"/>
                </a:lnSpc>
              </a:pPr>
            </a:p>
          </p:txBody>
        </p:sp>
      </p:grpSp>
      <p:sp>
        <p:nvSpPr>
          <p:cNvPr name="Freeform 7" id="7"/>
          <p:cNvSpPr/>
          <p:nvPr/>
        </p:nvSpPr>
        <p:spPr>
          <a:xfrm flipH="false" flipV="false" rot="0">
            <a:off x="10574058" y="2955784"/>
            <a:ext cx="6196513" cy="5319648"/>
          </a:xfrm>
          <a:custGeom>
            <a:avLst/>
            <a:gdLst/>
            <a:ahLst/>
            <a:cxnLst/>
            <a:rect r="r" b="b" t="t" l="l"/>
            <a:pathLst>
              <a:path h="5319648" w="6196513">
                <a:moveTo>
                  <a:pt x="0" y="0"/>
                </a:moveTo>
                <a:lnTo>
                  <a:pt x="6196513" y="0"/>
                </a:lnTo>
                <a:lnTo>
                  <a:pt x="6196513" y="5319648"/>
                </a:lnTo>
                <a:lnTo>
                  <a:pt x="0" y="5319648"/>
                </a:lnTo>
                <a:lnTo>
                  <a:pt x="0" y="0"/>
                </a:lnTo>
                <a:close/>
              </a:path>
            </a:pathLst>
          </a:custGeom>
          <a:blipFill>
            <a:blip r:embed="rId2"/>
            <a:stretch>
              <a:fillRect l="0" t="0" r="0" b="0"/>
            </a:stretch>
          </a:blipFill>
        </p:spPr>
      </p:sp>
      <p:sp>
        <p:nvSpPr>
          <p:cNvPr name="TextBox 8" id="8"/>
          <p:cNvSpPr txBox="true"/>
          <p:nvPr/>
        </p:nvSpPr>
        <p:spPr>
          <a:xfrm rot="0">
            <a:off x="14299551" y="8660242"/>
            <a:ext cx="2959749" cy="349250"/>
          </a:xfrm>
          <a:prstGeom prst="rect">
            <a:avLst/>
          </a:prstGeom>
        </p:spPr>
        <p:txBody>
          <a:bodyPr anchor="t" rtlCol="false" tIns="0" lIns="0" bIns="0" rIns="0">
            <a:spAutoFit/>
          </a:bodyPr>
          <a:lstStyle/>
          <a:p>
            <a:pPr algn="r">
              <a:lnSpc>
                <a:spcPts val="2800"/>
              </a:lnSpc>
              <a:spcBef>
                <a:spcPct val="0"/>
              </a:spcBef>
            </a:pPr>
            <a:r>
              <a:rPr lang="en-US" sz="2000" spc="600">
                <a:solidFill>
                  <a:srgbClr val="000000"/>
                </a:solidFill>
                <a:latin typeface="Inter"/>
                <a:ea typeface="Inter"/>
                <a:cs typeface="Inter"/>
                <a:sym typeface="Inter"/>
              </a:rPr>
              <a:t>PAGE 07</a:t>
            </a:r>
          </a:p>
        </p:txBody>
      </p:sp>
      <p:sp>
        <p:nvSpPr>
          <p:cNvPr name="TextBox 9" id="9"/>
          <p:cNvSpPr txBox="true"/>
          <p:nvPr/>
        </p:nvSpPr>
        <p:spPr>
          <a:xfrm rot="0">
            <a:off x="2571750" y="2320784"/>
            <a:ext cx="9506980" cy="863600"/>
          </a:xfrm>
          <a:prstGeom prst="rect">
            <a:avLst/>
          </a:prstGeom>
        </p:spPr>
        <p:txBody>
          <a:bodyPr anchor="t" rtlCol="false" tIns="0" lIns="0" bIns="0" rIns="0">
            <a:spAutoFit/>
          </a:bodyPr>
          <a:lstStyle/>
          <a:p>
            <a:pPr algn="l">
              <a:lnSpc>
                <a:spcPts val="7000"/>
              </a:lnSpc>
            </a:pPr>
            <a:r>
              <a:rPr lang="en-US" sz="5000">
                <a:solidFill>
                  <a:srgbClr val="000000"/>
                </a:solidFill>
                <a:latin typeface="TAN Twinkle"/>
                <a:ea typeface="TAN Twinkle"/>
                <a:cs typeface="TAN Twinkle"/>
                <a:sym typeface="TAN Twinkle"/>
              </a:rPr>
              <a:t>Model Evaluation</a:t>
            </a:r>
          </a:p>
        </p:txBody>
      </p:sp>
      <p:sp>
        <p:nvSpPr>
          <p:cNvPr name="TextBox 10" id="10"/>
          <p:cNvSpPr txBox="true"/>
          <p:nvPr/>
        </p:nvSpPr>
        <p:spPr>
          <a:xfrm rot="0">
            <a:off x="1028700" y="8399257"/>
            <a:ext cx="10001052" cy="512445"/>
          </a:xfrm>
          <a:prstGeom prst="rect">
            <a:avLst/>
          </a:prstGeom>
        </p:spPr>
        <p:txBody>
          <a:bodyPr anchor="t" rtlCol="false" tIns="0" lIns="0" bIns="0" rIns="0">
            <a:spAutoFit/>
          </a:bodyPr>
          <a:lstStyle/>
          <a:p>
            <a:pPr algn="l" marL="582932" indent="-291466" lvl="1">
              <a:lnSpc>
                <a:spcPts val="3780"/>
              </a:lnSpc>
              <a:buFont typeface="Arial"/>
              <a:buChar char="•"/>
            </a:pPr>
            <a:r>
              <a:rPr lang="en-US" sz="2700">
                <a:solidFill>
                  <a:srgbClr val="000000"/>
                </a:solidFill>
                <a:latin typeface="Times New Roman MT"/>
                <a:ea typeface="Times New Roman MT"/>
                <a:cs typeface="Times New Roman MT"/>
                <a:sym typeface="Times New Roman MT"/>
              </a:rPr>
              <a:t>Random Forest </a:t>
            </a:r>
            <a:r>
              <a:rPr lang="en-US" sz="2700">
                <a:solidFill>
                  <a:srgbClr val="000000"/>
                </a:solidFill>
                <a:latin typeface="Times New Roman MT"/>
                <a:ea typeface="Times New Roman MT"/>
                <a:cs typeface="Times New Roman MT"/>
                <a:sym typeface="Times New Roman MT"/>
              </a:rPr>
              <a:t>performed best and was selected for deployment.</a:t>
            </a:r>
          </a:p>
        </p:txBody>
      </p:sp>
      <p:sp>
        <p:nvSpPr>
          <p:cNvPr name="TextBox 11" id="11"/>
          <p:cNvSpPr txBox="true"/>
          <p:nvPr/>
        </p:nvSpPr>
        <p:spPr>
          <a:xfrm rot="0">
            <a:off x="1955354" y="4433746"/>
            <a:ext cx="8147745" cy="2852420"/>
          </a:xfrm>
          <a:prstGeom prst="rect">
            <a:avLst/>
          </a:prstGeom>
        </p:spPr>
        <p:txBody>
          <a:bodyPr anchor="t" rtlCol="false" tIns="0" lIns="0" bIns="0" rIns="0">
            <a:spAutoFit/>
          </a:bodyPr>
          <a:lstStyle/>
          <a:p>
            <a:pPr algn="l">
              <a:lnSpc>
                <a:spcPts val="4480"/>
              </a:lnSpc>
            </a:pPr>
            <a:r>
              <a:rPr lang="en-US" sz="3200">
                <a:solidFill>
                  <a:srgbClr val="000000"/>
                </a:solidFill>
                <a:latin typeface="Times New Roman MT"/>
                <a:ea typeface="Times New Roman MT"/>
                <a:cs typeface="Times New Roman MT"/>
                <a:sym typeface="Times New Roman MT"/>
              </a:rPr>
              <a:t>Best model : Random Forest</a:t>
            </a:r>
          </a:p>
          <a:p>
            <a:pPr algn="l">
              <a:lnSpc>
                <a:spcPts val="4480"/>
              </a:lnSpc>
              <a:spcBef>
                <a:spcPct val="0"/>
              </a:spcBef>
            </a:pPr>
            <a:r>
              <a:rPr lang="en-US" sz="3200">
                <a:solidFill>
                  <a:srgbClr val="000000"/>
                </a:solidFill>
                <a:latin typeface="Times New Roman MT"/>
                <a:ea typeface="Times New Roman MT"/>
                <a:cs typeface="Times New Roman MT"/>
                <a:sym typeface="Times New Roman MT"/>
              </a:rPr>
              <a:t>Accuracy: 0.91  </a:t>
            </a:r>
          </a:p>
          <a:p>
            <a:pPr algn="l">
              <a:lnSpc>
                <a:spcPts val="4480"/>
              </a:lnSpc>
              <a:spcBef>
                <a:spcPct val="0"/>
              </a:spcBef>
            </a:pPr>
          </a:p>
          <a:p>
            <a:pPr algn="l">
              <a:lnSpc>
                <a:spcPts val="4480"/>
              </a:lnSpc>
              <a:spcBef>
                <a:spcPct val="0"/>
              </a:spcBef>
            </a:pPr>
            <a:r>
              <a:rPr lang="en-US" sz="3200">
                <a:solidFill>
                  <a:srgbClr val="000000"/>
                </a:solidFill>
                <a:latin typeface="Times New Roman MT"/>
                <a:ea typeface="Times New Roman MT"/>
                <a:cs typeface="Times New Roman MT"/>
                <a:sym typeface="Times New Roman MT"/>
              </a:rPr>
              <a:t>• Model performs well for both classes  </a:t>
            </a:r>
          </a:p>
          <a:p>
            <a:pPr algn="l">
              <a:lnSpc>
                <a:spcPts val="4480"/>
              </a:lnSpc>
              <a:spcBef>
                <a:spcPct val="0"/>
              </a:spcBef>
            </a:pPr>
            <a:r>
              <a:rPr lang="en-US" sz="3200">
                <a:solidFill>
                  <a:srgbClr val="000000"/>
                </a:solidFill>
                <a:latin typeface="Times New Roman MT"/>
                <a:ea typeface="Times New Roman MT"/>
                <a:cs typeface="Times New Roman MT"/>
                <a:sym typeface="Times New Roman MT"/>
              </a:rPr>
              <a:t>• Low number of incorrect predictions  </a:t>
            </a:r>
          </a:p>
        </p:txBody>
      </p:sp>
    </p:spTree>
  </p:cSld>
  <p:clrMapOvr>
    <a:masterClrMapping/>
  </p:clrMapOvr>
</p:sld>
</file>

<file path=ppt/slides/slide8.xml><?xml version="1.0" encoding="utf-8"?>
<p:sld xmlns:p="http://schemas.openxmlformats.org/presentationml/2006/main" xmlns:a="http://schemas.openxmlformats.org/drawingml/2006/main">
  <p:cSld>
    <p:bg>
      <p:bgPr>
        <a:solidFill>
          <a:srgbClr val="FDFDFD"/>
        </a:solidFill>
      </p:bgPr>
    </p:bg>
    <p:spTree>
      <p:nvGrpSpPr>
        <p:cNvPr id="1" name=""/>
        <p:cNvGrpSpPr/>
        <p:nvPr/>
      </p:nvGrpSpPr>
      <p:grpSpPr>
        <a:xfrm>
          <a:off x="0" y="0"/>
          <a:ext cx="0" cy="0"/>
          <a:chOff x="0" y="0"/>
          <a:chExt cx="0" cy="0"/>
        </a:xfrm>
      </p:grpSpPr>
      <p:sp>
        <p:nvSpPr>
          <p:cNvPr name="AutoShape 2" id="2"/>
          <p:cNvSpPr/>
          <p:nvPr/>
        </p:nvSpPr>
        <p:spPr>
          <a:xfrm rot="0">
            <a:off x="1028700" y="9239250"/>
            <a:ext cx="16230600" cy="0"/>
          </a:xfrm>
          <a:prstGeom prst="line">
            <a:avLst/>
          </a:prstGeom>
          <a:ln cap="flat" w="19050">
            <a:solidFill>
              <a:srgbClr val="000000"/>
            </a:solidFill>
            <a:prstDash val="solid"/>
            <a:headEnd type="none" len="sm" w="sm"/>
            <a:tailEnd type="none" len="sm" w="sm"/>
          </a:ln>
        </p:spPr>
      </p:sp>
      <p:sp>
        <p:nvSpPr>
          <p:cNvPr name="AutoShape 3" id="3"/>
          <p:cNvSpPr/>
          <p:nvPr/>
        </p:nvSpPr>
        <p:spPr>
          <a:xfrm rot="0">
            <a:off x="1028700" y="1028700"/>
            <a:ext cx="16230600" cy="0"/>
          </a:xfrm>
          <a:prstGeom prst="line">
            <a:avLst/>
          </a:prstGeom>
          <a:ln cap="flat" w="19050">
            <a:solidFill>
              <a:srgbClr val="000000"/>
            </a:solidFill>
            <a:prstDash val="solid"/>
            <a:headEnd type="none" len="sm" w="sm"/>
            <a:tailEnd type="none" len="sm" w="sm"/>
          </a:ln>
        </p:spPr>
      </p:sp>
      <p:sp>
        <p:nvSpPr>
          <p:cNvPr name="TextBox 4" id="4"/>
          <p:cNvSpPr txBox="true"/>
          <p:nvPr/>
        </p:nvSpPr>
        <p:spPr>
          <a:xfrm rot="0">
            <a:off x="14299551" y="8660242"/>
            <a:ext cx="2959749" cy="349250"/>
          </a:xfrm>
          <a:prstGeom prst="rect">
            <a:avLst/>
          </a:prstGeom>
        </p:spPr>
        <p:txBody>
          <a:bodyPr anchor="t" rtlCol="false" tIns="0" lIns="0" bIns="0" rIns="0">
            <a:spAutoFit/>
          </a:bodyPr>
          <a:lstStyle/>
          <a:p>
            <a:pPr algn="r">
              <a:lnSpc>
                <a:spcPts val="2800"/>
              </a:lnSpc>
              <a:spcBef>
                <a:spcPct val="0"/>
              </a:spcBef>
            </a:pPr>
            <a:r>
              <a:rPr lang="en-US" sz="2000" spc="600">
                <a:solidFill>
                  <a:srgbClr val="000000"/>
                </a:solidFill>
                <a:latin typeface="Inter"/>
                <a:ea typeface="Inter"/>
                <a:cs typeface="Inter"/>
                <a:sym typeface="Inter"/>
              </a:rPr>
              <a:t>PAGE 08</a:t>
            </a:r>
          </a:p>
        </p:txBody>
      </p:sp>
      <p:sp>
        <p:nvSpPr>
          <p:cNvPr name="TextBox 5" id="5"/>
          <p:cNvSpPr txBox="true"/>
          <p:nvPr/>
        </p:nvSpPr>
        <p:spPr>
          <a:xfrm rot="0">
            <a:off x="1651858" y="3291840"/>
            <a:ext cx="8231264" cy="5100320"/>
          </a:xfrm>
          <a:prstGeom prst="rect">
            <a:avLst/>
          </a:prstGeom>
        </p:spPr>
        <p:txBody>
          <a:bodyPr anchor="t" rtlCol="false" tIns="0" lIns="0" bIns="0" rIns="0">
            <a:spAutoFit/>
          </a:bodyPr>
          <a:lstStyle/>
          <a:p>
            <a:pPr algn="l">
              <a:lnSpc>
                <a:spcPts val="4480"/>
              </a:lnSpc>
            </a:pPr>
            <a:r>
              <a:rPr lang="en-US" sz="3200">
                <a:solidFill>
                  <a:srgbClr val="000000"/>
                </a:solidFill>
                <a:latin typeface="Times New Roman MT"/>
                <a:ea typeface="Times New Roman MT"/>
                <a:cs typeface="Times New Roman MT"/>
                <a:sym typeface="Times New Roman MT"/>
              </a:rPr>
              <a:t>•</a:t>
            </a:r>
            <a:r>
              <a:rPr lang="en-US" sz="3200">
                <a:solidFill>
                  <a:srgbClr val="000000"/>
                </a:solidFill>
                <a:latin typeface="Times New Roman MT"/>
                <a:ea typeface="Times New Roman MT"/>
                <a:cs typeface="Times New Roman MT"/>
                <a:sym typeface="Times New Roman MT"/>
              </a:rPr>
              <a:t> Developed using Streamlit  </a:t>
            </a:r>
          </a:p>
          <a:p>
            <a:pPr algn="l">
              <a:lnSpc>
                <a:spcPts val="4480"/>
              </a:lnSpc>
            </a:pPr>
            <a:r>
              <a:rPr lang="en-US" sz="3200">
                <a:solidFill>
                  <a:srgbClr val="000000"/>
                </a:solidFill>
                <a:latin typeface="Times New Roman MT"/>
                <a:ea typeface="Times New Roman MT"/>
                <a:cs typeface="Times New Roman MT"/>
                <a:sym typeface="Times New Roman MT"/>
              </a:rPr>
              <a:t>• Simple and user-friendly interface  </a:t>
            </a:r>
          </a:p>
          <a:p>
            <a:pPr algn="l">
              <a:lnSpc>
                <a:spcPts val="4480"/>
              </a:lnSpc>
            </a:pPr>
          </a:p>
          <a:p>
            <a:pPr algn="l">
              <a:lnSpc>
                <a:spcPts val="4480"/>
              </a:lnSpc>
            </a:pPr>
            <a:r>
              <a:rPr lang="en-US" sz="3200">
                <a:solidFill>
                  <a:srgbClr val="000000"/>
                </a:solidFill>
                <a:latin typeface="Times New Roman MT"/>
                <a:ea typeface="Times New Roman MT"/>
                <a:cs typeface="Times New Roman MT"/>
                <a:sym typeface="Times New Roman MT"/>
              </a:rPr>
              <a:t>Inp</a:t>
            </a:r>
            <a:r>
              <a:rPr lang="en-US" sz="3200">
                <a:solidFill>
                  <a:srgbClr val="000000"/>
                </a:solidFill>
                <a:latin typeface="Times New Roman MT"/>
                <a:ea typeface="Times New Roman MT"/>
                <a:cs typeface="Times New Roman MT"/>
                <a:sym typeface="Times New Roman MT"/>
              </a:rPr>
              <a:t>uts:</a:t>
            </a:r>
          </a:p>
          <a:p>
            <a:pPr algn="l">
              <a:lnSpc>
                <a:spcPts val="4480"/>
              </a:lnSpc>
            </a:pPr>
            <a:r>
              <a:rPr lang="en-US" sz="3200">
                <a:solidFill>
                  <a:srgbClr val="000000"/>
                </a:solidFill>
                <a:latin typeface="Times New Roman MT"/>
                <a:ea typeface="Times New Roman MT"/>
                <a:cs typeface="Times New Roman MT"/>
                <a:sym typeface="Times New Roman MT"/>
              </a:rPr>
              <a:t>• Age  </a:t>
            </a:r>
          </a:p>
          <a:p>
            <a:pPr algn="l">
              <a:lnSpc>
                <a:spcPts val="4480"/>
              </a:lnSpc>
            </a:pPr>
            <a:r>
              <a:rPr lang="en-US" sz="3200">
                <a:solidFill>
                  <a:srgbClr val="000000"/>
                </a:solidFill>
                <a:latin typeface="Times New Roman MT"/>
                <a:ea typeface="Times New Roman MT"/>
                <a:cs typeface="Times New Roman MT"/>
                <a:sym typeface="Times New Roman MT"/>
              </a:rPr>
              <a:t>• Study Time  </a:t>
            </a:r>
          </a:p>
          <a:p>
            <a:pPr algn="l">
              <a:lnSpc>
                <a:spcPts val="4480"/>
              </a:lnSpc>
            </a:pPr>
            <a:r>
              <a:rPr lang="en-US" sz="3200">
                <a:solidFill>
                  <a:srgbClr val="000000"/>
                </a:solidFill>
                <a:latin typeface="Times New Roman MT"/>
                <a:ea typeface="Times New Roman MT"/>
                <a:cs typeface="Times New Roman MT"/>
                <a:sym typeface="Times New Roman MT"/>
              </a:rPr>
              <a:t>• Failures  </a:t>
            </a:r>
          </a:p>
          <a:p>
            <a:pPr algn="l">
              <a:lnSpc>
                <a:spcPts val="4480"/>
              </a:lnSpc>
            </a:pPr>
            <a:r>
              <a:rPr lang="en-US" sz="3200">
                <a:solidFill>
                  <a:srgbClr val="000000"/>
                </a:solidFill>
                <a:latin typeface="Times New Roman MT"/>
                <a:ea typeface="Times New Roman MT"/>
                <a:cs typeface="Times New Roman MT"/>
                <a:sym typeface="Times New Roman MT"/>
              </a:rPr>
              <a:t>• Absences  </a:t>
            </a:r>
          </a:p>
          <a:p>
            <a:pPr algn="l">
              <a:lnSpc>
                <a:spcPts val="4480"/>
              </a:lnSpc>
            </a:pPr>
            <a:r>
              <a:rPr lang="en-US" sz="3200">
                <a:solidFill>
                  <a:srgbClr val="000000"/>
                </a:solidFill>
                <a:latin typeface="Times New Roman MT"/>
                <a:ea typeface="Times New Roman MT"/>
                <a:cs typeface="Times New Roman MT"/>
                <a:sym typeface="Times New Roman MT"/>
              </a:rPr>
              <a:t>• G1, G2  </a:t>
            </a:r>
          </a:p>
        </p:txBody>
      </p:sp>
      <p:grpSp>
        <p:nvGrpSpPr>
          <p:cNvPr name="Group 6" id="6"/>
          <p:cNvGrpSpPr/>
          <p:nvPr/>
        </p:nvGrpSpPr>
        <p:grpSpPr>
          <a:xfrm rot="0">
            <a:off x="-682095" y="-685800"/>
            <a:ext cx="3848100" cy="3848100"/>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4EFED">
                <a:alpha val="47843"/>
              </a:srgbClr>
            </a:solidFill>
          </p:spPr>
        </p:sp>
        <p:sp>
          <p:nvSpPr>
            <p:cNvPr name="TextBox 8" id="8"/>
            <p:cNvSpPr txBox="true"/>
            <p:nvPr/>
          </p:nvSpPr>
          <p:spPr>
            <a:xfrm>
              <a:off x="76200" y="38100"/>
              <a:ext cx="660400" cy="698500"/>
            </a:xfrm>
            <a:prstGeom prst="rect">
              <a:avLst/>
            </a:prstGeom>
          </p:spPr>
          <p:txBody>
            <a:bodyPr anchor="ctr" rtlCol="false" tIns="50800" lIns="50800" bIns="50800" rIns="50800"/>
            <a:lstStyle/>
            <a:p>
              <a:pPr algn="ctr">
                <a:lnSpc>
                  <a:spcPts val="2800"/>
                </a:lnSpc>
              </a:pPr>
            </a:p>
          </p:txBody>
        </p:sp>
      </p:grpSp>
      <p:sp>
        <p:nvSpPr>
          <p:cNvPr name="TextBox 9" id="9"/>
          <p:cNvSpPr txBox="true"/>
          <p:nvPr/>
        </p:nvSpPr>
        <p:spPr>
          <a:xfrm rot="0">
            <a:off x="8984558" y="5019675"/>
            <a:ext cx="4348560" cy="1166495"/>
          </a:xfrm>
          <a:prstGeom prst="rect">
            <a:avLst/>
          </a:prstGeom>
        </p:spPr>
        <p:txBody>
          <a:bodyPr anchor="t" rtlCol="false" tIns="0" lIns="0" bIns="0" rIns="0">
            <a:spAutoFit/>
          </a:bodyPr>
          <a:lstStyle/>
          <a:p>
            <a:pPr algn="just">
              <a:lnSpc>
                <a:spcPts val="4480"/>
              </a:lnSpc>
              <a:spcBef>
                <a:spcPct val="0"/>
              </a:spcBef>
            </a:pPr>
            <a:r>
              <a:rPr lang="en-US" sz="3200">
                <a:solidFill>
                  <a:srgbClr val="000000"/>
                </a:solidFill>
                <a:latin typeface="Times New Roman MT"/>
                <a:ea typeface="Times New Roman MT"/>
                <a:cs typeface="Times New Roman MT"/>
                <a:sym typeface="Times New Roman MT"/>
              </a:rPr>
              <a:t>Output:</a:t>
            </a:r>
          </a:p>
          <a:p>
            <a:pPr algn="just">
              <a:lnSpc>
                <a:spcPts val="4480"/>
              </a:lnSpc>
              <a:spcBef>
                <a:spcPct val="0"/>
              </a:spcBef>
            </a:pPr>
            <a:r>
              <a:rPr lang="en-US" sz="3200">
                <a:solidFill>
                  <a:srgbClr val="000000"/>
                </a:solidFill>
                <a:latin typeface="Times New Roman MT"/>
                <a:ea typeface="Times New Roman MT"/>
                <a:cs typeface="Times New Roman MT"/>
                <a:sym typeface="Times New Roman MT"/>
              </a:rPr>
              <a:t>• Predicts PASS or FAIL </a:t>
            </a:r>
          </a:p>
        </p:txBody>
      </p:sp>
      <p:sp>
        <p:nvSpPr>
          <p:cNvPr name="TextBox 10" id="10"/>
          <p:cNvSpPr txBox="true"/>
          <p:nvPr/>
        </p:nvSpPr>
        <p:spPr>
          <a:xfrm rot="0">
            <a:off x="1651858" y="1704975"/>
            <a:ext cx="9506980" cy="863600"/>
          </a:xfrm>
          <a:prstGeom prst="rect">
            <a:avLst/>
          </a:prstGeom>
        </p:spPr>
        <p:txBody>
          <a:bodyPr anchor="t" rtlCol="false" tIns="0" lIns="0" bIns="0" rIns="0">
            <a:spAutoFit/>
          </a:bodyPr>
          <a:lstStyle/>
          <a:p>
            <a:pPr algn="l">
              <a:lnSpc>
                <a:spcPts val="7000"/>
              </a:lnSpc>
            </a:pPr>
            <a:r>
              <a:rPr lang="en-US" sz="5000">
                <a:solidFill>
                  <a:srgbClr val="000000"/>
                </a:solidFill>
                <a:latin typeface="TAN Twinkle"/>
                <a:ea typeface="TAN Twinkle"/>
                <a:cs typeface="TAN Twinkle"/>
                <a:sym typeface="TAN Twinkle"/>
              </a:rPr>
              <a:t>Web Application</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DFDFD"/>
        </a:solidFill>
      </p:bgPr>
    </p:bg>
    <p:spTree>
      <p:nvGrpSpPr>
        <p:cNvPr id="1" name=""/>
        <p:cNvGrpSpPr/>
        <p:nvPr/>
      </p:nvGrpSpPr>
      <p:grpSpPr>
        <a:xfrm>
          <a:off x="0" y="0"/>
          <a:ext cx="0" cy="0"/>
          <a:chOff x="0" y="0"/>
          <a:chExt cx="0" cy="0"/>
        </a:xfrm>
      </p:grpSpPr>
      <p:sp>
        <p:nvSpPr>
          <p:cNvPr name="AutoShape 2" id="2"/>
          <p:cNvSpPr/>
          <p:nvPr/>
        </p:nvSpPr>
        <p:spPr>
          <a:xfrm rot="0">
            <a:off x="1028700" y="1028700"/>
            <a:ext cx="16230600" cy="0"/>
          </a:xfrm>
          <a:prstGeom prst="line">
            <a:avLst/>
          </a:prstGeom>
          <a:ln cap="flat" w="19050">
            <a:solidFill>
              <a:srgbClr val="000000"/>
            </a:solidFill>
            <a:prstDash val="solid"/>
            <a:headEnd type="none" len="sm" w="sm"/>
            <a:tailEnd type="none" len="sm" w="sm"/>
          </a:ln>
        </p:spPr>
      </p:sp>
      <p:sp>
        <p:nvSpPr>
          <p:cNvPr name="Freeform 3" id="3"/>
          <p:cNvSpPr/>
          <p:nvPr/>
        </p:nvSpPr>
        <p:spPr>
          <a:xfrm flipH="false" flipV="false" rot="0">
            <a:off x="1028700" y="2639351"/>
            <a:ext cx="7708776" cy="5900480"/>
          </a:xfrm>
          <a:custGeom>
            <a:avLst/>
            <a:gdLst/>
            <a:ahLst/>
            <a:cxnLst/>
            <a:rect r="r" b="b" t="t" l="l"/>
            <a:pathLst>
              <a:path h="5900480" w="7708776">
                <a:moveTo>
                  <a:pt x="0" y="0"/>
                </a:moveTo>
                <a:lnTo>
                  <a:pt x="7708776" y="0"/>
                </a:lnTo>
                <a:lnTo>
                  <a:pt x="7708776" y="5900480"/>
                </a:lnTo>
                <a:lnTo>
                  <a:pt x="0" y="5900480"/>
                </a:lnTo>
                <a:lnTo>
                  <a:pt x="0" y="0"/>
                </a:lnTo>
                <a:close/>
              </a:path>
            </a:pathLst>
          </a:custGeom>
          <a:blipFill>
            <a:blip r:embed="rId2"/>
            <a:stretch>
              <a:fillRect l="0" t="0" r="-3832" b="0"/>
            </a:stretch>
          </a:blipFill>
        </p:spPr>
      </p:sp>
      <p:sp>
        <p:nvSpPr>
          <p:cNvPr name="Freeform 4" id="4"/>
          <p:cNvSpPr/>
          <p:nvPr/>
        </p:nvSpPr>
        <p:spPr>
          <a:xfrm flipH="false" flipV="false" rot="0">
            <a:off x="9912301" y="2639351"/>
            <a:ext cx="7558205" cy="5900480"/>
          </a:xfrm>
          <a:custGeom>
            <a:avLst/>
            <a:gdLst/>
            <a:ahLst/>
            <a:cxnLst/>
            <a:rect r="r" b="b" t="t" l="l"/>
            <a:pathLst>
              <a:path h="5900480" w="7558205">
                <a:moveTo>
                  <a:pt x="0" y="0"/>
                </a:moveTo>
                <a:lnTo>
                  <a:pt x="7558205" y="0"/>
                </a:lnTo>
                <a:lnTo>
                  <a:pt x="7558205" y="5900480"/>
                </a:lnTo>
                <a:lnTo>
                  <a:pt x="0" y="5900480"/>
                </a:lnTo>
                <a:lnTo>
                  <a:pt x="0" y="0"/>
                </a:lnTo>
                <a:close/>
              </a:path>
            </a:pathLst>
          </a:custGeom>
          <a:blipFill>
            <a:blip r:embed="rId3"/>
            <a:stretch>
              <a:fillRect l="0" t="-1768" r="0" b="-1768"/>
            </a:stretch>
          </a:blipFill>
        </p:spPr>
      </p:sp>
      <p:sp>
        <p:nvSpPr>
          <p:cNvPr name="TextBox 5" id="5"/>
          <p:cNvSpPr txBox="true"/>
          <p:nvPr/>
        </p:nvSpPr>
        <p:spPr>
          <a:xfrm rot="0">
            <a:off x="14299551" y="9210675"/>
            <a:ext cx="2959749" cy="349250"/>
          </a:xfrm>
          <a:prstGeom prst="rect">
            <a:avLst/>
          </a:prstGeom>
        </p:spPr>
        <p:txBody>
          <a:bodyPr anchor="t" rtlCol="false" tIns="0" lIns="0" bIns="0" rIns="0">
            <a:spAutoFit/>
          </a:bodyPr>
          <a:lstStyle/>
          <a:p>
            <a:pPr algn="r">
              <a:lnSpc>
                <a:spcPts val="2800"/>
              </a:lnSpc>
              <a:spcBef>
                <a:spcPct val="0"/>
              </a:spcBef>
            </a:pPr>
            <a:r>
              <a:rPr lang="en-US" sz="2000" spc="600">
                <a:solidFill>
                  <a:srgbClr val="000000"/>
                </a:solidFill>
                <a:latin typeface="Inter"/>
                <a:ea typeface="Inter"/>
                <a:cs typeface="Inter"/>
                <a:sym typeface="Inter"/>
              </a:rPr>
              <a:t>PAGE 09</a:t>
            </a:r>
          </a:p>
        </p:txBody>
      </p:sp>
      <p:sp>
        <p:nvSpPr>
          <p:cNvPr name="TextBox 6" id="6"/>
          <p:cNvSpPr txBox="true"/>
          <p:nvPr/>
        </p:nvSpPr>
        <p:spPr>
          <a:xfrm rot="0">
            <a:off x="1483217" y="1550259"/>
            <a:ext cx="9506980" cy="669925"/>
          </a:xfrm>
          <a:prstGeom prst="rect">
            <a:avLst/>
          </a:prstGeom>
        </p:spPr>
        <p:txBody>
          <a:bodyPr anchor="t" rtlCol="false" tIns="0" lIns="0" bIns="0" rIns="0">
            <a:spAutoFit/>
          </a:bodyPr>
          <a:lstStyle/>
          <a:p>
            <a:pPr algn="l">
              <a:lnSpc>
                <a:spcPts val="5599"/>
              </a:lnSpc>
            </a:pPr>
            <a:r>
              <a:rPr lang="en-US" sz="3999">
                <a:solidFill>
                  <a:srgbClr val="000000"/>
                </a:solidFill>
                <a:latin typeface="TAN Twinkle"/>
                <a:ea typeface="TAN Twinkle"/>
                <a:cs typeface="TAN Twinkle"/>
                <a:sym typeface="TAN Twinkle"/>
              </a:rPr>
              <a:t>Prediction Results</a:t>
            </a:r>
          </a:p>
        </p:txBody>
      </p:sp>
      <p:sp>
        <p:nvSpPr>
          <p:cNvPr name="TextBox 7" id="7"/>
          <p:cNvSpPr txBox="true"/>
          <p:nvPr/>
        </p:nvSpPr>
        <p:spPr>
          <a:xfrm rot="0">
            <a:off x="2818999" y="8670290"/>
            <a:ext cx="2556768" cy="588010"/>
          </a:xfrm>
          <a:prstGeom prst="rect">
            <a:avLst/>
          </a:prstGeom>
        </p:spPr>
        <p:txBody>
          <a:bodyPr anchor="t" rtlCol="false" tIns="0" lIns="0" bIns="0" rIns="0">
            <a:spAutoFit/>
          </a:bodyPr>
          <a:lstStyle/>
          <a:p>
            <a:pPr algn="ctr">
              <a:lnSpc>
                <a:spcPts val="4340"/>
              </a:lnSpc>
              <a:spcBef>
                <a:spcPct val="0"/>
              </a:spcBef>
            </a:pPr>
            <a:r>
              <a:rPr lang="en-US" sz="3100">
                <a:solidFill>
                  <a:srgbClr val="000000"/>
                </a:solidFill>
                <a:latin typeface="Times New Roman MT"/>
                <a:ea typeface="Times New Roman MT"/>
                <a:cs typeface="Times New Roman MT"/>
                <a:sym typeface="Times New Roman MT"/>
              </a:rPr>
              <a:t>Pass Prediction</a:t>
            </a:r>
          </a:p>
        </p:txBody>
      </p:sp>
      <p:sp>
        <p:nvSpPr>
          <p:cNvPr name="TextBox 8" id="8"/>
          <p:cNvSpPr txBox="true"/>
          <p:nvPr/>
        </p:nvSpPr>
        <p:spPr>
          <a:xfrm rot="0">
            <a:off x="12323720" y="8670290"/>
            <a:ext cx="2473226" cy="588010"/>
          </a:xfrm>
          <a:prstGeom prst="rect">
            <a:avLst/>
          </a:prstGeom>
        </p:spPr>
        <p:txBody>
          <a:bodyPr anchor="t" rtlCol="false" tIns="0" lIns="0" bIns="0" rIns="0">
            <a:spAutoFit/>
          </a:bodyPr>
          <a:lstStyle/>
          <a:p>
            <a:pPr algn="ctr">
              <a:lnSpc>
                <a:spcPts val="4340"/>
              </a:lnSpc>
              <a:spcBef>
                <a:spcPct val="0"/>
              </a:spcBef>
            </a:pPr>
            <a:r>
              <a:rPr lang="en-US" sz="3100">
                <a:solidFill>
                  <a:srgbClr val="000000"/>
                </a:solidFill>
                <a:latin typeface="Times New Roman MT"/>
                <a:ea typeface="Times New Roman MT"/>
                <a:cs typeface="Times New Roman MT"/>
                <a:sym typeface="Times New Roman MT"/>
              </a:rPr>
              <a:t>Fail Prediction</a:t>
            </a:r>
          </a:p>
        </p:txBody>
      </p:sp>
    </p:spTree>
  </p:cSld>
  <p:clrMapOvr>
    <a:masterClrMapping/>
  </p:clrMapOvr>
</p:sld>
</file>

<file path=ppt/slides/slide10.xml><?xml version="1.0" encoding="utf-8"?>
<p:sld xmlns:p="http://schemas.openxmlformats.org/presentationml/2006/main" xmlns:a="http://schemas.openxmlformats.org/drawingml/2006/main">
  <p:cSld>
    <p:bg>
      <p:bgPr>
        <a:solidFill>
          <a:srgbClr val="FDFDFD"/>
        </a:solidFill>
      </p:bgPr>
    </p:bg>
    <p:spTree>
      <p:nvGrpSpPr>
        <p:cNvPr id="1" name=""/>
        <p:cNvGrpSpPr/>
        <p:nvPr/>
      </p:nvGrpSpPr>
      <p:grpSpPr>
        <a:xfrm>
          <a:off x="0" y="0"/>
          <a:ext cx="0" cy="0"/>
          <a:chOff x="0" y="0"/>
          <a:chExt cx="0" cy="0"/>
        </a:xfrm>
      </p:grpSpPr>
      <p:sp>
        <p:nvSpPr>
          <p:cNvPr name="AutoShape 2" id="2"/>
          <p:cNvSpPr/>
          <p:nvPr/>
        </p:nvSpPr>
        <p:spPr>
          <a:xfrm rot="0">
            <a:off x="1028700" y="9239250"/>
            <a:ext cx="16230600" cy="0"/>
          </a:xfrm>
          <a:prstGeom prst="line">
            <a:avLst/>
          </a:prstGeom>
          <a:ln cap="flat" w="19050">
            <a:solidFill>
              <a:srgbClr val="000000"/>
            </a:solidFill>
            <a:prstDash val="solid"/>
            <a:headEnd type="none" len="sm" w="sm"/>
            <a:tailEnd type="none" len="sm" w="sm"/>
          </a:ln>
        </p:spPr>
      </p:sp>
      <p:sp>
        <p:nvSpPr>
          <p:cNvPr name="AutoShape 3" id="3"/>
          <p:cNvSpPr/>
          <p:nvPr/>
        </p:nvSpPr>
        <p:spPr>
          <a:xfrm rot="0">
            <a:off x="1028700" y="1028700"/>
            <a:ext cx="16230600" cy="0"/>
          </a:xfrm>
          <a:prstGeom prst="line">
            <a:avLst/>
          </a:prstGeom>
          <a:ln cap="flat" w="19050">
            <a:solidFill>
              <a:srgbClr val="000000"/>
            </a:solidFill>
            <a:prstDash val="solid"/>
            <a:headEnd type="none" len="sm" w="sm"/>
            <a:tailEnd type="none" len="sm" w="sm"/>
          </a:ln>
        </p:spPr>
      </p:sp>
      <p:sp>
        <p:nvSpPr>
          <p:cNvPr name="TextBox 4" id="4"/>
          <p:cNvSpPr txBox="true"/>
          <p:nvPr/>
        </p:nvSpPr>
        <p:spPr>
          <a:xfrm rot="0">
            <a:off x="14299551" y="8660242"/>
            <a:ext cx="2959749" cy="349250"/>
          </a:xfrm>
          <a:prstGeom prst="rect">
            <a:avLst/>
          </a:prstGeom>
        </p:spPr>
        <p:txBody>
          <a:bodyPr anchor="t" rtlCol="false" tIns="0" lIns="0" bIns="0" rIns="0">
            <a:spAutoFit/>
          </a:bodyPr>
          <a:lstStyle/>
          <a:p>
            <a:pPr algn="r">
              <a:lnSpc>
                <a:spcPts val="2800"/>
              </a:lnSpc>
              <a:spcBef>
                <a:spcPct val="0"/>
              </a:spcBef>
            </a:pPr>
            <a:r>
              <a:rPr lang="en-US" sz="2000" spc="600">
                <a:solidFill>
                  <a:srgbClr val="000000"/>
                </a:solidFill>
                <a:latin typeface="Inter"/>
                <a:ea typeface="Inter"/>
                <a:cs typeface="Inter"/>
                <a:sym typeface="Inter"/>
              </a:rPr>
              <a:t>PAGE 10</a:t>
            </a:r>
          </a:p>
        </p:txBody>
      </p:sp>
      <p:sp>
        <p:nvSpPr>
          <p:cNvPr name="TextBox 5" id="5"/>
          <p:cNvSpPr txBox="true"/>
          <p:nvPr/>
        </p:nvSpPr>
        <p:spPr>
          <a:xfrm rot="0">
            <a:off x="1028700" y="8660242"/>
            <a:ext cx="3670263" cy="349250"/>
          </a:xfrm>
          <a:prstGeom prst="rect">
            <a:avLst/>
          </a:prstGeom>
        </p:spPr>
        <p:txBody>
          <a:bodyPr anchor="t" rtlCol="false" tIns="0" lIns="0" bIns="0" rIns="0">
            <a:spAutoFit/>
          </a:bodyPr>
          <a:lstStyle/>
          <a:p>
            <a:pPr algn="l">
              <a:lnSpc>
                <a:spcPts val="2800"/>
              </a:lnSpc>
              <a:spcBef>
                <a:spcPct val="0"/>
              </a:spcBef>
            </a:pPr>
            <a:r>
              <a:rPr lang="en-US" sz="2000" spc="600">
                <a:solidFill>
                  <a:srgbClr val="000000"/>
                </a:solidFill>
                <a:latin typeface="Inter"/>
                <a:ea typeface="Inter"/>
                <a:cs typeface="Inter"/>
                <a:sym typeface="Inter"/>
              </a:rPr>
              <a:t>THANKS!</a:t>
            </a:r>
          </a:p>
        </p:txBody>
      </p:sp>
      <p:grpSp>
        <p:nvGrpSpPr>
          <p:cNvPr name="Group 6" id="6"/>
          <p:cNvGrpSpPr/>
          <p:nvPr/>
        </p:nvGrpSpPr>
        <p:grpSpPr>
          <a:xfrm rot="0">
            <a:off x="1028700" y="1444588"/>
            <a:ext cx="3086100" cy="3086100"/>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4EFED"/>
            </a:solidFill>
          </p:spPr>
        </p:sp>
        <p:sp>
          <p:nvSpPr>
            <p:cNvPr name="TextBox 8" id="8"/>
            <p:cNvSpPr txBox="true"/>
            <p:nvPr/>
          </p:nvSpPr>
          <p:spPr>
            <a:xfrm>
              <a:off x="76200" y="38100"/>
              <a:ext cx="660400" cy="698500"/>
            </a:xfrm>
            <a:prstGeom prst="rect">
              <a:avLst/>
            </a:prstGeom>
          </p:spPr>
          <p:txBody>
            <a:bodyPr anchor="ctr" rtlCol="false" tIns="50800" lIns="50800" bIns="50800" rIns="50800"/>
            <a:lstStyle/>
            <a:p>
              <a:pPr algn="ctr">
                <a:lnSpc>
                  <a:spcPts val="2800"/>
                </a:lnSpc>
              </a:pPr>
            </a:p>
          </p:txBody>
        </p:sp>
      </p:grpSp>
      <p:sp>
        <p:nvSpPr>
          <p:cNvPr name="TextBox 9" id="9"/>
          <p:cNvSpPr txBox="true"/>
          <p:nvPr/>
        </p:nvSpPr>
        <p:spPr>
          <a:xfrm rot="0">
            <a:off x="2571750" y="2512975"/>
            <a:ext cx="9506980" cy="854076"/>
          </a:xfrm>
          <a:prstGeom prst="rect">
            <a:avLst/>
          </a:prstGeom>
        </p:spPr>
        <p:txBody>
          <a:bodyPr anchor="t" rtlCol="false" tIns="0" lIns="0" bIns="0" rIns="0">
            <a:spAutoFit/>
          </a:bodyPr>
          <a:lstStyle/>
          <a:p>
            <a:pPr algn="l">
              <a:lnSpc>
                <a:spcPts val="6999"/>
              </a:lnSpc>
            </a:pPr>
            <a:r>
              <a:rPr lang="en-US" sz="4999">
                <a:solidFill>
                  <a:srgbClr val="000000"/>
                </a:solidFill>
                <a:latin typeface="TAN Twinkle"/>
                <a:ea typeface="TAN Twinkle"/>
                <a:cs typeface="TAN Twinkle"/>
                <a:sym typeface="TAN Twinkle"/>
              </a:rPr>
              <a:t>Conclusion</a:t>
            </a:r>
          </a:p>
        </p:txBody>
      </p:sp>
      <p:sp>
        <p:nvSpPr>
          <p:cNvPr name="TextBox 10" id="10"/>
          <p:cNvSpPr txBox="true"/>
          <p:nvPr/>
        </p:nvSpPr>
        <p:spPr>
          <a:xfrm rot="0">
            <a:off x="2863831" y="4254463"/>
            <a:ext cx="12065726" cy="3162173"/>
          </a:xfrm>
          <a:prstGeom prst="rect">
            <a:avLst/>
          </a:prstGeom>
        </p:spPr>
        <p:txBody>
          <a:bodyPr anchor="t" rtlCol="false" tIns="0" lIns="0" bIns="0" rIns="0">
            <a:spAutoFit/>
          </a:bodyPr>
          <a:lstStyle/>
          <a:p>
            <a:pPr algn="l" marL="734059" indent="-367030" lvl="1">
              <a:lnSpc>
                <a:spcPts val="6255"/>
              </a:lnSpc>
              <a:buFont typeface="Arial"/>
              <a:buChar char="•"/>
            </a:pPr>
            <a:r>
              <a:rPr lang="en-US" sz="3399">
                <a:solidFill>
                  <a:srgbClr val="000000"/>
                </a:solidFill>
                <a:latin typeface="Times New Roman MT"/>
                <a:ea typeface="Times New Roman MT"/>
                <a:cs typeface="Times New Roman MT"/>
                <a:sym typeface="Times New Roman MT"/>
              </a:rPr>
              <a:t>Mo</a:t>
            </a:r>
            <a:r>
              <a:rPr lang="en-US" sz="3399">
                <a:solidFill>
                  <a:srgbClr val="000000"/>
                </a:solidFill>
                <a:latin typeface="Times New Roman MT"/>
                <a:ea typeface="Times New Roman MT"/>
                <a:cs typeface="Times New Roman MT"/>
                <a:sym typeface="Times New Roman MT"/>
              </a:rPr>
              <a:t>del predicts student performance effectively</a:t>
            </a:r>
          </a:p>
          <a:p>
            <a:pPr algn="l" marL="734059" indent="-367030" lvl="1">
              <a:lnSpc>
                <a:spcPts val="6255"/>
              </a:lnSpc>
              <a:buFont typeface="Arial"/>
              <a:buChar char="•"/>
            </a:pPr>
            <a:r>
              <a:rPr lang="en-US" sz="3399">
                <a:solidFill>
                  <a:srgbClr val="000000"/>
                </a:solidFill>
                <a:latin typeface="Times New Roman MT"/>
                <a:ea typeface="Times New Roman MT"/>
                <a:cs typeface="Times New Roman MT"/>
                <a:sym typeface="Times New Roman MT"/>
              </a:rPr>
              <a:t>Random Forest selected as best model</a:t>
            </a:r>
          </a:p>
          <a:p>
            <a:pPr algn="l" marL="734059" indent="-367030" lvl="1">
              <a:lnSpc>
                <a:spcPts val="6255"/>
              </a:lnSpc>
              <a:buFont typeface="Arial"/>
              <a:buChar char="•"/>
            </a:pPr>
            <a:r>
              <a:rPr lang="en-US" sz="3399">
                <a:solidFill>
                  <a:srgbClr val="000000"/>
                </a:solidFill>
                <a:latin typeface="Times New Roman MT"/>
                <a:ea typeface="Times New Roman MT"/>
                <a:cs typeface="Times New Roman MT"/>
                <a:sym typeface="Times New Roman MT"/>
              </a:rPr>
              <a:t>Achieved 0.91 accuracy</a:t>
            </a:r>
          </a:p>
          <a:p>
            <a:pPr algn="l" marL="734059" indent="-367030" lvl="1">
              <a:lnSpc>
                <a:spcPts val="6255"/>
              </a:lnSpc>
              <a:buFont typeface="Arial"/>
              <a:buChar char="•"/>
            </a:pPr>
            <a:r>
              <a:rPr lang="en-US" sz="3399">
                <a:solidFill>
                  <a:srgbClr val="000000"/>
                </a:solidFill>
                <a:latin typeface="Times New Roman MT"/>
                <a:ea typeface="Times New Roman MT"/>
                <a:cs typeface="Times New Roman MT"/>
                <a:sym typeface="Times New Roman MT"/>
              </a:rPr>
              <a:t>Useful for early intervention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DAHIOjztqyw</dc:identifier>
  <dcterms:modified xsi:type="dcterms:W3CDTF">2011-08-01T06:04:30Z</dcterms:modified>
  <cp:revision>1</cp:revision>
  <dc:title>Student Performance Prediction</dc:title>
</cp:coreProperties>
</file>